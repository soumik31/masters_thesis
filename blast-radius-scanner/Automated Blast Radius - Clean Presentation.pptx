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9144000"/>
  <p:embeddedFontLst>
    <p:embeddedFont>
      <p:font typeface="Plus Jakarta Sans"/>
      <p:regular r:id="rId14"/>
      <p:bold r:id="rId15"/>
      <p:italic r:id="rId16"/>
      <p:boldItalic r:id="rId17"/>
    </p:embeddedFont>
    <p:embeddedFont>
      <p:font typeface="Plus Jakarta Sans SemiBold" pitchFamily="2" charset="77"/>
      <p:regular r:id="rId18"/>
      <p:bold r:id="rId19"/>
      <p:italic r:id="rId20"/>
      <p:boldItalic r:id="rId21"/>
    </p:embeddedFont>
    <p:embeddedFont>
      <p:font typeface="Roboto" panose="02000000000000000000" pitchFamily="2" charset="0"/>
      <p:regular r:id="rId22"/>
      <p:bold r:id="rId23"/>
      <p:italic r:id="rId24"/>
      <p:boldItalic r:id="rId25"/>
    </p:embeddedFont>
    <p:embeddedFont>
      <p:font typeface="Roboto Slab" pitchFamily="2" charset="0"/>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6B5C6D-F056-4A6B-934D-435CDD8ED7CD}">
  <a:tblStyle styleId="{A66B5C6D-F056-4A6B-934D-435CDD8ED7C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746"/>
  </p:normalViewPr>
  <p:slideViewPr>
    <p:cSldViewPr snapToGrid="0">
      <p:cViewPr varScale="1">
        <p:scale>
          <a:sx n="88" d="100"/>
          <a:sy n="88" d="100"/>
        </p:scale>
        <p:origin x="150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 name="Google Shape;6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Excessive permissions: not just through IAM roles, but also through open security groups and network routes. For example, our WordPress instance only needs to talk to its database and S3 bucket. But today, it can also reach the internet, every other resource in the VPC, and potentially steal credentials via metadata.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Unchecked spread: Today, if one component is compromised, there's nothing preventing the attacker from moving laterally to other resources. Our WordPress EC2 can reach the database, the internet, and steal cloud</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D1D5DB"/>
                </a:solidFill>
                <a:latin typeface="Plus Jakarta Sans"/>
                <a:ea typeface="Plus Jakarta Sans"/>
                <a:cs typeface="Plus Jakarta Sans"/>
                <a:sym typeface="Plus Jakarta Sans"/>
              </a:rPr>
              <a:t>Visibility Gaps: </a:t>
            </a:r>
            <a:r>
              <a:rPr lang="en-US" dirty="0"/>
              <a:t>Today, no tool shows us a single picture of what an attacker can actually reach from a compromised resource. </a:t>
            </a:r>
            <a:br>
              <a:rPr lang="en-US" dirty="0"/>
            </a:br>
            <a:br>
              <a:rPr lang="en-US" dirty="0"/>
            </a:br>
            <a:r>
              <a:rPr lang="en-US" dirty="0"/>
              <a:t>Prowler or Security Hub give you hundreds of individual findings, but no single number that says 'your blast radius is 78%.</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Static Scan Limitations: Existing tools check rules one by one they don't connect the dots. They don't ask 'can EC2 actually reach RDS through this security groups AND this route AND this subnet together?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 Control Priority: If you have 10 security issues, which one do you fix first. Current tools can’t say 'fixing the egress route reduces your risk by 27%, but fixing the endpoint policy only saves you 3%.'</a:t>
            </a:r>
            <a:endParaRPr dirty="0"/>
          </a:p>
        </p:txBody>
      </p:sp>
      <p:sp>
        <p:nvSpPr>
          <p:cNvPr id="73" name="Google Shape;7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Graph Model: We define a mathematical graph where every AWS resource is a node, and every reachable path — whether through network, IAM, or metadata — is an edge. This gives us a formal way to calculate blast radius as a percentage: reachable nodes divided by total nodes.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Custom Scanner: We build a Python tool that connects to a live AWS account, discovers all resources automatically, checks security groups, route tables, IAM policies, and IMDS settings, and constructs the attack graph in real time.</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Control Testing: We fix one security issue at a time and re-scan after each fix. This tells us which fix had the biggest impact — so teams know what to prioritize.</a:t>
            </a:r>
            <a:endParaRPr dirty="0"/>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Modeling Reach: "Can we turn an AWS account into a graph and automatically calculate how far an attacker can go? We answer this by building both the math model and the scanner."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Control Impact: "When we fix something — like blocking internet egress or restricting a security group — how much does the score actually drop? Which fix matters most?"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Architecture Variance: "Do the same fixes work equally well for an EC2 server as for a Lambda function? Or does each architecture need a different security strategy?"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Model Validation: "Does our math prediction match what the scanner actually finds? If they disagree, we investigate why — and that's where we learn something new." </a:t>
            </a:r>
            <a:endParaRPr dirty="0"/>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looked into different papers and found out about this graph formula. Our graph has two components. Vertices are every resource in the account — EC2 instances, databases, S3 buckets, Lambda functions, and the internet as a destination. Edges are the confirmed paths between them — a security group allowing traffic, an IAM role granting API access, or metadata credentials that can be stolen. If an edge exists, the attacker can move along 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BR(v) — blast radius starting from resource v (the compromised one)                                                                                                                                                                         </a:t>
            </a:r>
          </a:p>
          <a:p>
            <a:pPr marL="0" lvl="0" indent="0" algn="l" rtl="0">
              <a:spcBef>
                <a:spcPts val="0"/>
              </a:spcBef>
              <a:spcAft>
                <a:spcPts val="0"/>
              </a:spcAft>
              <a:buNone/>
            </a:pPr>
            <a:r>
              <a:rPr lang="en-US" dirty="0"/>
              <a:t>  - R(v) — the set of all resources reachable from v (found by BFS traversal)       10</a:t>
            </a:r>
          </a:p>
          <a:p>
            <a:pPr marL="0" lvl="0" indent="0" algn="l" rtl="0">
              <a:spcBef>
                <a:spcPts val="0"/>
              </a:spcBef>
              <a:spcAft>
                <a:spcPts val="0"/>
              </a:spcAft>
              <a:buNone/>
            </a:pPr>
            <a:r>
              <a:rPr lang="en-US" dirty="0"/>
              <a:t>  - |R(v)| — count of reachable resources      10</a:t>
            </a:r>
            <a:br>
              <a:rPr lang="en-US" dirty="0"/>
            </a:br>
            <a:r>
              <a:rPr lang="en-US" dirty="0"/>
              <a:t>  - V \ {v} — all resources except v itself (you don't count the compromised resource)      11-1=10                                                                                                                                                    </a:t>
            </a:r>
          </a:p>
          <a:p>
            <a:pPr marL="0" lvl="0" indent="0" algn="l" rtl="0">
              <a:spcBef>
                <a:spcPts val="0"/>
              </a:spcBef>
              <a:spcAft>
                <a:spcPts val="0"/>
              </a:spcAft>
              <a:buNone/>
            </a:pPr>
            <a:r>
              <a:rPr lang="en-US" dirty="0"/>
              <a:t>  - |V \ {v}| — total count of other resources	10</a:t>
            </a:r>
            <a:endParaRPr dirty="0"/>
          </a:p>
        </p:txBody>
      </p:sp>
      <p:sp>
        <p:nvSpPr>
          <p:cNvPr id="135" name="Google Shape;13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scanner calls AWS APIs — describe-instances, describe-security-groups, list-buckets, list-tables — to pull the real, live configuration of every resource in the account. No manual input needed.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then translates those configurations into graph edges. If a security group allows port 3306 outbound and the RDS security group allows it inbound — that becomes an edge. If an IAM role has s3:GetObject permission — that becomes an edge. The </a:t>
            </a:r>
            <a:r>
              <a:rPr lang="en-US" dirty="0" err="1"/>
              <a:t>networkx</a:t>
            </a:r>
            <a:r>
              <a:rPr lang="en-US" dirty="0"/>
              <a:t> library connects it all into one graph we can traverse and score.</a:t>
            </a:r>
            <a:endParaRPr dirty="0"/>
          </a:p>
        </p:txBody>
      </p:sp>
      <p:sp>
        <p:nvSpPr>
          <p:cNvPr id="150" name="Google Shape;15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Primary controls: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IMDSv2 Enforcement: "Forces a token for metadata access — so even if an attacker has SSRF(Server-Side Request Forgery), they can't steal IAM credentials from the instance."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Database Firewalls: "Restricts the database security group so only the WordPress EC2 can connect — not the entire VPC or the world."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Secondary controls: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Egress Restrictions: "Removes the internet route from private subnets — if an attacker gets in, they can't send data out."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  VPC Endpoint Policies: "Narrows down who can use each endpoint and for what — no more wildcard allow-all policies." </a:t>
            </a:r>
            <a:endParaRPr dirty="0"/>
          </a:p>
        </p:txBody>
      </p:sp>
      <p:sp>
        <p:nvSpPr>
          <p:cNvPr id="185" name="Google Shape;18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If they agree — great, both methods work. If they disagree — we found a blind spot. That gap is where the real security insights are.</a:t>
            </a:r>
            <a:endParaRPr dirty="0"/>
          </a:p>
        </p:txBody>
      </p:sp>
      <p:sp>
        <p:nvSpPr>
          <p:cNvPr id="205" name="Google Shape;20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21" name="Google Shape;22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IAM Access Analyzer tells you: "This role has unused permissions."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Our tool tells you: "This role's permissions create a path from EC2 to S3 to DynamoDB — and that adds 15% to your blast radius. Fix this one first."                                                                                          </a:t>
            </a:r>
          </a:p>
          <a:p>
            <a:pPr marL="0" lvl="0" indent="0" algn="l" rtl="0">
              <a:spcBef>
                <a:spcPts val="0"/>
              </a:spcBef>
              <a:spcAft>
                <a:spcPts val="0"/>
              </a:spcAft>
              <a:buNone/>
            </a:pPr>
            <a:r>
              <a:rPr lang="en-US" dirty="0"/>
              <a:t>                                                                                                                                                                                                                                                </a:t>
            </a:r>
          </a:p>
          <a:p>
            <a:pPr marL="0" lvl="0" indent="0" algn="l" rtl="0">
              <a:spcBef>
                <a:spcPts val="0"/>
              </a:spcBef>
              <a:spcAft>
                <a:spcPts val="0"/>
              </a:spcAft>
              <a:buNone/>
            </a:pPr>
            <a:r>
              <a:rPr lang="en-US" dirty="0"/>
              <a:t>IAM Access Analyzer gives raw data. Our tool puts it in context — it connects IAM findings with network paths and metadata, calculates the combined impact, and ranks what matters most. Analyzer is one input; our graph is the full picture.</a:t>
            </a:r>
            <a:endParaRPr dirty="0"/>
          </a:p>
        </p:txBody>
      </p:sp>
      <p:sp>
        <p:nvSpPr>
          <p:cNvPr id="243" name="Google Shape;2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research gives us or other security team a tool that scans the AWS accounts, shows their risk as a single number, and tells us exactly what to fix first to reduce it the most.</a:t>
            </a:r>
            <a:endParaRPr dirty="0"/>
          </a:p>
        </p:txBody>
      </p:sp>
      <p:sp>
        <p:nvSpPr>
          <p:cNvPr id="267" name="Google Shape;26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033067" y="896808"/>
            <a:ext cx="1442131" cy="1499896"/>
          </a:xfrm>
          <a:custGeom>
            <a:avLst/>
            <a:gdLst/>
            <a:ahLst/>
            <a:cxnLst/>
            <a:rect l="l" t="t" r="r" b="b"/>
            <a:pathLst>
              <a:path w="43265" h="44998" extrusionOk="0">
                <a:moveTo>
                  <a:pt x="0" y="44998"/>
                </a:moveTo>
                <a:lnTo>
                  <a:pt x="0" y="0"/>
                </a:lnTo>
                <a:lnTo>
                  <a:pt x="43265" y="0"/>
                </a:lnTo>
              </a:path>
            </a:pathLst>
          </a:custGeom>
          <a:noFill/>
          <a:ln w="38100" cap="flat" cmpd="sng">
            <a:solidFill>
              <a:schemeClr val="accent5"/>
            </a:solidFill>
            <a:prstDash val="solid"/>
            <a:miter lim="8000"/>
            <a:headEnd type="none" w="sm" len="sm"/>
            <a:tailEnd type="none" w="sm" len="sm"/>
          </a:ln>
        </p:spPr>
      </p:sp>
      <p:sp>
        <p:nvSpPr>
          <p:cNvPr id="11" name="Google Shape;11;p2"/>
          <p:cNvSpPr/>
          <p:nvPr/>
        </p:nvSpPr>
        <p:spPr>
          <a:xfrm rot="10800000">
            <a:off x="8716786" y="4457271"/>
            <a:ext cx="1442131" cy="1499896"/>
          </a:xfrm>
          <a:custGeom>
            <a:avLst/>
            <a:gdLst/>
            <a:ahLst/>
            <a:cxnLst/>
            <a:rect l="l" t="t" r="r" b="b"/>
            <a:pathLst>
              <a:path w="43265" h="44998" extrusionOk="0">
                <a:moveTo>
                  <a:pt x="0" y="44998"/>
                </a:moveTo>
                <a:lnTo>
                  <a:pt x="0" y="0"/>
                </a:lnTo>
                <a:lnTo>
                  <a:pt x="43265" y="0"/>
                </a:lnTo>
              </a:path>
            </a:pathLst>
          </a:custGeom>
          <a:noFill/>
          <a:ln w="38100" cap="flat" cmpd="sng">
            <a:solidFill>
              <a:schemeClr val="accent5"/>
            </a:solidFill>
            <a:prstDash val="solid"/>
            <a:miter lim="8000"/>
            <a:headEnd type="none" w="sm" len="sm"/>
            <a:tailEnd type="none" w="sm" len="sm"/>
          </a:ln>
        </p:spPr>
      </p:sp>
      <p:cxnSp>
        <p:nvCxnSpPr>
          <p:cNvPr id="12" name="Google Shape;12;p2"/>
          <p:cNvCxnSpPr/>
          <p:nvPr/>
        </p:nvCxnSpPr>
        <p:spPr>
          <a:xfrm>
            <a:off x="5812802" y="3756618"/>
            <a:ext cx="566400" cy="0"/>
          </a:xfrm>
          <a:prstGeom prst="straightConnector1">
            <a:avLst/>
          </a:prstGeom>
          <a:noFill/>
          <a:ln w="508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2240402" y="1585234"/>
            <a:ext cx="7711200" cy="1943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300"/>
              <a:buNone/>
              <a:defRPr sz="53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endParaRPr/>
          </a:p>
        </p:txBody>
      </p:sp>
      <p:sp>
        <p:nvSpPr>
          <p:cNvPr id="14" name="Google Shape;14;p2"/>
          <p:cNvSpPr txBox="1">
            <a:spLocks noGrp="1"/>
          </p:cNvSpPr>
          <p:nvPr>
            <p:ph type="subTitle" idx="1"/>
          </p:nvPr>
        </p:nvSpPr>
        <p:spPr>
          <a:xfrm>
            <a:off x="2240402" y="4065933"/>
            <a:ext cx="7711200" cy="1212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3200"/>
              <a:buFont typeface="Roboto Slab"/>
              <a:buNone/>
              <a:defRPr sz="32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5812802" y="3756618"/>
            <a:ext cx="566400" cy="0"/>
          </a:xfrm>
          <a:prstGeom prst="straightConnector1">
            <a:avLst/>
          </a:prstGeom>
          <a:noFill/>
          <a:ln w="508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641000" y="2353267"/>
            <a:ext cx="10962900" cy="1209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400"/>
              <a:buNone/>
              <a:defRPr sz="6400"/>
            </a:lvl1pPr>
            <a:lvl2pPr lvl="1" algn="ctr">
              <a:spcBef>
                <a:spcPts val="0"/>
              </a:spcBef>
              <a:spcAft>
                <a:spcPts val="0"/>
              </a:spcAft>
              <a:buSzPts val="6400"/>
              <a:buNone/>
              <a:defRPr sz="6400"/>
            </a:lvl2pPr>
            <a:lvl3pPr lvl="2" algn="ctr">
              <a:spcBef>
                <a:spcPts val="0"/>
              </a:spcBef>
              <a:spcAft>
                <a:spcPts val="0"/>
              </a:spcAft>
              <a:buSzPts val="6400"/>
              <a:buNone/>
              <a:defRPr sz="6400"/>
            </a:lvl3pPr>
            <a:lvl4pPr lvl="3" algn="ctr">
              <a:spcBef>
                <a:spcPts val="0"/>
              </a:spcBef>
              <a:spcAft>
                <a:spcPts val="0"/>
              </a:spcAft>
              <a:buSzPts val="6400"/>
              <a:buNone/>
              <a:defRPr sz="6400"/>
            </a:lvl4pPr>
            <a:lvl5pPr lvl="4" algn="ctr">
              <a:spcBef>
                <a:spcPts val="0"/>
              </a:spcBef>
              <a:spcAft>
                <a:spcPts val="0"/>
              </a:spcAft>
              <a:buSzPts val="6400"/>
              <a:buNone/>
              <a:defRPr sz="6400"/>
            </a:lvl5pPr>
            <a:lvl6pPr lvl="5" algn="ctr">
              <a:spcBef>
                <a:spcPts val="0"/>
              </a:spcBef>
              <a:spcAft>
                <a:spcPts val="0"/>
              </a:spcAft>
              <a:buSzPts val="6400"/>
              <a:buNone/>
              <a:defRPr sz="6400"/>
            </a:lvl6pPr>
            <a:lvl7pPr lvl="6" algn="ctr">
              <a:spcBef>
                <a:spcPts val="0"/>
              </a:spcBef>
              <a:spcAft>
                <a:spcPts val="0"/>
              </a:spcAft>
              <a:buSzPts val="6400"/>
              <a:buNone/>
              <a:defRPr sz="6400"/>
            </a:lvl7pPr>
            <a:lvl8pPr lvl="7" algn="ctr">
              <a:spcBef>
                <a:spcPts val="0"/>
              </a:spcBef>
              <a:spcAft>
                <a:spcPts val="0"/>
              </a:spcAft>
              <a:buSzPts val="6400"/>
              <a:buNone/>
              <a:defRPr sz="6400"/>
            </a:lvl8pPr>
            <a:lvl9pPr lvl="8" algn="ctr">
              <a:spcBef>
                <a:spcPts val="0"/>
              </a:spcBef>
              <a:spcAft>
                <a:spcPts val="0"/>
              </a:spcAft>
              <a:buSzPts val="6400"/>
              <a:buNone/>
              <a:defRPr sz="6400"/>
            </a:lvl9pPr>
          </a:lstStyle>
          <a:p>
            <a:endParaRPr/>
          </a:p>
        </p:txBody>
      </p:sp>
      <p:sp>
        <p:nvSpPr>
          <p:cNvPr id="19" name="Google Shape;19;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656750" y="1680378"/>
            <a:ext cx="566400" cy="0"/>
          </a:xfrm>
          <a:prstGeom prst="straightConnector1">
            <a:avLst/>
          </a:prstGeom>
          <a:noFill/>
          <a:ln w="508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517200" y="610700"/>
            <a:ext cx="11157600" cy="914700"/>
          </a:xfrm>
          <a:prstGeom prst="rect">
            <a:avLst/>
          </a:prstGeom>
        </p:spPr>
        <p:txBody>
          <a:bodyPr spcFirstLastPara="1" wrap="square" lIns="121900" tIns="121900" rIns="121900" bIns="121900" anchor="b"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3" name="Google Shape;23;p4"/>
          <p:cNvSpPr txBox="1">
            <a:spLocks noGrp="1"/>
          </p:cNvSpPr>
          <p:nvPr>
            <p:ph type="body" idx="1"/>
          </p:nvPr>
        </p:nvSpPr>
        <p:spPr>
          <a:xfrm>
            <a:off x="517200" y="1986432"/>
            <a:ext cx="11157600" cy="410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24" name="Google Shape;24;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656750" y="1680378"/>
            <a:ext cx="566400" cy="0"/>
          </a:xfrm>
          <a:prstGeom prst="straightConnector1">
            <a:avLst/>
          </a:prstGeom>
          <a:noFill/>
          <a:ln w="508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517200" y="610700"/>
            <a:ext cx="11157600" cy="914700"/>
          </a:xfrm>
          <a:prstGeom prst="rect">
            <a:avLst/>
          </a:prstGeom>
        </p:spPr>
        <p:txBody>
          <a:bodyPr spcFirstLastPara="1" wrap="square" lIns="121900" tIns="121900" rIns="121900" bIns="121900" anchor="b"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28" name="Google Shape;28;p5"/>
          <p:cNvSpPr txBox="1">
            <a:spLocks noGrp="1"/>
          </p:cNvSpPr>
          <p:nvPr>
            <p:ph type="body" idx="1"/>
          </p:nvPr>
        </p:nvSpPr>
        <p:spPr>
          <a:xfrm>
            <a:off x="517200" y="1986433"/>
            <a:ext cx="5333100" cy="410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9" name="Google Shape;29;p5"/>
          <p:cNvSpPr txBox="1">
            <a:spLocks noGrp="1"/>
          </p:cNvSpPr>
          <p:nvPr>
            <p:ph type="body" idx="2"/>
          </p:nvPr>
        </p:nvSpPr>
        <p:spPr>
          <a:xfrm>
            <a:off x="6341600" y="1986433"/>
            <a:ext cx="5333100" cy="410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0" name="Google Shape;30;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517200" y="610700"/>
            <a:ext cx="11157600" cy="914700"/>
          </a:xfrm>
          <a:prstGeom prst="rect">
            <a:avLst/>
          </a:prstGeom>
        </p:spPr>
        <p:txBody>
          <a:bodyPr spcFirstLastPara="1" wrap="square" lIns="121900" tIns="121900" rIns="121900" bIns="121900" anchor="b" anchorCtr="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a:endParaRPr/>
          </a:p>
        </p:txBody>
      </p:sp>
      <p:sp>
        <p:nvSpPr>
          <p:cNvPr id="33" name="Google Shape;33;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652291" y="1883036"/>
            <a:ext cx="441900" cy="0"/>
          </a:xfrm>
          <a:prstGeom prst="straightConnector1">
            <a:avLst/>
          </a:prstGeom>
          <a:noFill/>
          <a:ln w="508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5172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7" name="Google Shape;37;p7"/>
          <p:cNvSpPr txBox="1">
            <a:spLocks noGrp="1"/>
          </p:cNvSpPr>
          <p:nvPr>
            <p:ph type="body" idx="1"/>
          </p:nvPr>
        </p:nvSpPr>
        <p:spPr>
          <a:xfrm>
            <a:off x="517200" y="2125367"/>
            <a:ext cx="3744000" cy="35748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8" name="Google Shape;38;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653667" y="701800"/>
            <a:ext cx="74916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41" name="Google Shape;41;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6096000" y="-100"/>
            <a:ext cx="6096000" cy="68580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6706233" y="5994004"/>
            <a:ext cx="721200" cy="0"/>
          </a:xfrm>
          <a:prstGeom prst="straightConnector1">
            <a:avLst/>
          </a:prstGeom>
          <a:noFill/>
          <a:ln w="508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354000" y="1612100"/>
            <a:ext cx="5393700" cy="20085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100"/>
              <a:buNone/>
              <a:defRPr sz="5100"/>
            </a:lvl1pPr>
            <a:lvl2pPr lvl="1" algn="ctr">
              <a:spcBef>
                <a:spcPts val="0"/>
              </a:spcBef>
              <a:spcAft>
                <a:spcPts val="0"/>
              </a:spcAft>
              <a:buSzPts val="5100"/>
              <a:buNone/>
              <a:defRPr sz="5100"/>
            </a:lvl2pPr>
            <a:lvl3pPr lvl="2" algn="ctr">
              <a:spcBef>
                <a:spcPts val="0"/>
              </a:spcBef>
              <a:spcAft>
                <a:spcPts val="0"/>
              </a:spcAft>
              <a:buSzPts val="5100"/>
              <a:buNone/>
              <a:defRPr sz="5100"/>
            </a:lvl3pPr>
            <a:lvl4pPr lvl="3" algn="ctr">
              <a:spcBef>
                <a:spcPts val="0"/>
              </a:spcBef>
              <a:spcAft>
                <a:spcPts val="0"/>
              </a:spcAft>
              <a:buSzPts val="5100"/>
              <a:buNone/>
              <a:defRPr sz="5100"/>
            </a:lvl4pPr>
            <a:lvl5pPr lvl="4" algn="ctr">
              <a:spcBef>
                <a:spcPts val="0"/>
              </a:spcBef>
              <a:spcAft>
                <a:spcPts val="0"/>
              </a:spcAft>
              <a:buSzPts val="5100"/>
              <a:buNone/>
              <a:defRPr sz="5100"/>
            </a:lvl5pPr>
            <a:lvl6pPr lvl="5" algn="ctr">
              <a:spcBef>
                <a:spcPts val="0"/>
              </a:spcBef>
              <a:spcAft>
                <a:spcPts val="0"/>
              </a:spcAft>
              <a:buSzPts val="5100"/>
              <a:buNone/>
              <a:defRPr sz="5100"/>
            </a:lvl6pPr>
            <a:lvl7pPr lvl="6" algn="ctr">
              <a:spcBef>
                <a:spcPts val="0"/>
              </a:spcBef>
              <a:spcAft>
                <a:spcPts val="0"/>
              </a:spcAft>
              <a:buSzPts val="5100"/>
              <a:buNone/>
              <a:defRPr sz="5100"/>
            </a:lvl7pPr>
            <a:lvl8pPr lvl="7" algn="ctr">
              <a:spcBef>
                <a:spcPts val="0"/>
              </a:spcBef>
              <a:spcAft>
                <a:spcPts val="0"/>
              </a:spcAft>
              <a:buSzPts val="5100"/>
              <a:buNone/>
              <a:defRPr sz="5100"/>
            </a:lvl8pPr>
            <a:lvl9pPr lvl="8" algn="ctr">
              <a:spcBef>
                <a:spcPts val="0"/>
              </a:spcBef>
              <a:spcAft>
                <a:spcPts val="0"/>
              </a:spcAft>
              <a:buSzPts val="5100"/>
              <a:buNone/>
              <a:defRPr sz="5100"/>
            </a:lvl9pPr>
          </a:lstStyle>
          <a:p>
            <a:endParaRPr/>
          </a:p>
        </p:txBody>
      </p:sp>
      <p:sp>
        <p:nvSpPr>
          <p:cNvPr id="46" name="Google Shape;46;p9"/>
          <p:cNvSpPr txBox="1">
            <a:spLocks noGrp="1"/>
          </p:cNvSpPr>
          <p:nvPr>
            <p:ph type="subTitle" idx="1"/>
          </p:nvPr>
        </p:nvSpPr>
        <p:spPr>
          <a:xfrm>
            <a:off x="354000" y="3692001"/>
            <a:ext cx="5393700" cy="17940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Clr>
                <a:schemeClr val="accent5"/>
              </a:buClr>
              <a:buSzPts val="2800"/>
              <a:buNone/>
              <a:defRPr sz="2800">
                <a:solidFill>
                  <a:schemeClr val="accent5"/>
                </a:solidFill>
              </a:defRPr>
            </a:lvl1pPr>
            <a:lvl2pPr lvl="1" algn="ctr">
              <a:lnSpc>
                <a:spcPct val="100000"/>
              </a:lnSpc>
              <a:spcBef>
                <a:spcPts val="0"/>
              </a:spcBef>
              <a:spcAft>
                <a:spcPts val="0"/>
              </a:spcAft>
              <a:buClr>
                <a:schemeClr val="accent5"/>
              </a:buClr>
              <a:buSzPts val="2800"/>
              <a:buNone/>
              <a:defRPr sz="2800">
                <a:solidFill>
                  <a:schemeClr val="accent5"/>
                </a:solidFill>
              </a:defRPr>
            </a:lvl2pPr>
            <a:lvl3pPr lvl="2" algn="ctr">
              <a:lnSpc>
                <a:spcPct val="100000"/>
              </a:lnSpc>
              <a:spcBef>
                <a:spcPts val="0"/>
              </a:spcBef>
              <a:spcAft>
                <a:spcPts val="0"/>
              </a:spcAft>
              <a:buClr>
                <a:schemeClr val="accent5"/>
              </a:buClr>
              <a:buSzPts val="2800"/>
              <a:buNone/>
              <a:defRPr sz="2800">
                <a:solidFill>
                  <a:schemeClr val="accent5"/>
                </a:solidFill>
              </a:defRPr>
            </a:lvl3pPr>
            <a:lvl4pPr lvl="3" algn="ctr">
              <a:lnSpc>
                <a:spcPct val="100000"/>
              </a:lnSpc>
              <a:spcBef>
                <a:spcPts val="0"/>
              </a:spcBef>
              <a:spcAft>
                <a:spcPts val="0"/>
              </a:spcAft>
              <a:buClr>
                <a:schemeClr val="accent5"/>
              </a:buClr>
              <a:buSzPts val="2800"/>
              <a:buNone/>
              <a:defRPr sz="2800">
                <a:solidFill>
                  <a:schemeClr val="accent5"/>
                </a:solidFill>
              </a:defRPr>
            </a:lvl4pPr>
            <a:lvl5pPr lvl="4" algn="ctr">
              <a:lnSpc>
                <a:spcPct val="100000"/>
              </a:lnSpc>
              <a:spcBef>
                <a:spcPts val="0"/>
              </a:spcBef>
              <a:spcAft>
                <a:spcPts val="0"/>
              </a:spcAft>
              <a:buClr>
                <a:schemeClr val="accent5"/>
              </a:buClr>
              <a:buSzPts val="2800"/>
              <a:buNone/>
              <a:defRPr sz="2800">
                <a:solidFill>
                  <a:schemeClr val="accent5"/>
                </a:solidFill>
              </a:defRPr>
            </a:lvl5pPr>
            <a:lvl6pPr lvl="5" algn="ctr">
              <a:lnSpc>
                <a:spcPct val="100000"/>
              </a:lnSpc>
              <a:spcBef>
                <a:spcPts val="0"/>
              </a:spcBef>
              <a:spcAft>
                <a:spcPts val="0"/>
              </a:spcAft>
              <a:buClr>
                <a:schemeClr val="accent5"/>
              </a:buClr>
              <a:buSzPts val="2800"/>
              <a:buNone/>
              <a:defRPr sz="2800">
                <a:solidFill>
                  <a:schemeClr val="accent5"/>
                </a:solidFill>
              </a:defRPr>
            </a:lvl6pPr>
            <a:lvl7pPr lvl="6" algn="ctr">
              <a:lnSpc>
                <a:spcPct val="100000"/>
              </a:lnSpc>
              <a:spcBef>
                <a:spcPts val="0"/>
              </a:spcBef>
              <a:spcAft>
                <a:spcPts val="0"/>
              </a:spcAft>
              <a:buClr>
                <a:schemeClr val="accent5"/>
              </a:buClr>
              <a:buSzPts val="2800"/>
              <a:buNone/>
              <a:defRPr sz="2800">
                <a:solidFill>
                  <a:schemeClr val="accent5"/>
                </a:solidFill>
              </a:defRPr>
            </a:lvl7pPr>
            <a:lvl8pPr lvl="7" algn="ctr">
              <a:lnSpc>
                <a:spcPct val="100000"/>
              </a:lnSpc>
              <a:spcBef>
                <a:spcPts val="0"/>
              </a:spcBef>
              <a:spcAft>
                <a:spcPts val="0"/>
              </a:spcAft>
              <a:buClr>
                <a:schemeClr val="accent5"/>
              </a:buClr>
              <a:buSzPts val="2800"/>
              <a:buNone/>
              <a:defRPr sz="2800">
                <a:solidFill>
                  <a:schemeClr val="accent5"/>
                </a:solidFill>
              </a:defRPr>
            </a:lvl8pPr>
            <a:lvl9pPr lvl="8" algn="ctr">
              <a:lnSpc>
                <a:spcPct val="100000"/>
              </a:lnSpc>
              <a:spcBef>
                <a:spcPts val="0"/>
              </a:spcBef>
              <a:spcAft>
                <a:spcPts val="0"/>
              </a:spcAft>
              <a:buClr>
                <a:schemeClr val="accent5"/>
              </a:buClr>
              <a:buSzPts val="2800"/>
              <a:buNone/>
              <a:defRPr sz="2800">
                <a:solidFill>
                  <a:schemeClr val="accent5"/>
                </a:solidFill>
              </a:defRPr>
            </a:lvl9pPr>
          </a:lstStyle>
          <a:p>
            <a:endParaRPr/>
          </a:p>
        </p:txBody>
      </p:sp>
      <p:sp>
        <p:nvSpPr>
          <p:cNvPr id="47" name="Google Shape;47;p9"/>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8" name="Google Shape;48;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426000" y="5644967"/>
            <a:ext cx="7998300" cy="7983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200" y="6769100"/>
            <a:ext cx="12191700" cy="88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517200" y="1536600"/>
            <a:ext cx="11157600" cy="2051100"/>
          </a:xfrm>
          <a:prstGeom prst="rect">
            <a:avLst/>
          </a:prstGeom>
        </p:spPr>
        <p:txBody>
          <a:bodyPr spcFirstLastPara="1" wrap="square" lIns="121900" tIns="121900" rIns="121900" bIns="121900" anchor="ctr" anchorCtr="0">
            <a:normAutofit/>
          </a:bodyPr>
          <a:lstStyle>
            <a:lvl1pPr lvl="0" algn="ctr">
              <a:spcBef>
                <a:spcPts val="0"/>
              </a:spcBef>
              <a:spcAft>
                <a:spcPts val="0"/>
              </a:spcAft>
              <a:buClr>
                <a:schemeClr val="accent5"/>
              </a:buClr>
              <a:buSzPts val="17300"/>
              <a:buNone/>
              <a:defRPr sz="17300">
                <a:solidFill>
                  <a:schemeClr val="accent5"/>
                </a:solidFill>
              </a:defRPr>
            </a:lvl1pPr>
            <a:lvl2pPr lvl="1" algn="ctr">
              <a:spcBef>
                <a:spcPts val="0"/>
              </a:spcBef>
              <a:spcAft>
                <a:spcPts val="0"/>
              </a:spcAft>
              <a:buClr>
                <a:schemeClr val="accent5"/>
              </a:buClr>
              <a:buSzPts val="17300"/>
              <a:buNone/>
              <a:defRPr sz="17300">
                <a:solidFill>
                  <a:schemeClr val="accent5"/>
                </a:solidFill>
              </a:defRPr>
            </a:lvl2pPr>
            <a:lvl3pPr lvl="2" algn="ctr">
              <a:spcBef>
                <a:spcPts val="0"/>
              </a:spcBef>
              <a:spcAft>
                <a:spcPts val="0"/>
              </a:spcAft>
              <a:buClr>
                <a:schemeClr val="accent5"/>
              </a:buClr>
              <a:buSzPts val="17300"/>
              <a:buNone/>
              <a:defRPr sz="17300">
                <a:solidFill>
                  <a:schemeClr val="accent5"/>
                </a:solidFill>
              </a:defRPr>
            </a:lvl3pPr>
            <a:lvl4pPr lvl="3" algn="ctr">
              <a:spcBef>
                <a:spcPts val="0"/>
              </a:spcBef>
              <a:spcAft>
                <a:spcPts val="0"/>
              </a:spcAft>
              <a:buClr>
                <a:schemeClr val="accent5"/>
              </a:buClr>
              <a:buSzPts val="17300"/>
              <a:buNone/>
              <a:defRPr sz="17300">
                <a:solidFill>
                  <a:schemeClr val="accent5"/>
                </a:solidFill>
              </a:defRPr>
            </a:lvl4pPr>
            <a:lvl5pPr lvl="4" algn="ctr">
              <a:spcBef>
                <a:spcPts val="0"/>
              </a:spcBef>
              <a:spcAft>
                <a:spcPts val="0"/>
              </a:spcAft>
              <a:buClr>
                <a:schemeClr val="accent5"/>
              </a:buClr>
              <a:buSzPts val="17300"/>
              <a:buNone/>
              <a:defRPr sz="17300">
                <a:solidFill>
                  <a:schemeClr val="accent5"/>
                </a:solidFill>
              </a:defRPr>
            </a:lvl5pPr>
            <a:lvl6pPr lvl="5" algn="ctr">
              <a:spcBef>
                <a:spcPts val="0"/>
              </a:spcBef>
              <a:spcAft>
                <a:spcPts val="0"/>
              </a:spcAft>
              <a:buClr>
                <a:schemeClr val="accent5"/>
              </a:buClr>
              <a:buSzPts val="17300"/>
              <a:buNone/>
              <a:defRPr sz="17300">
                <a:solidFill>
                  <a:schemeClr val="accent5"/>
                </a:solidFill>
              </a:defRPr>
            </a:lvl6pPr>
            <a:lvl7pPr lvl="6" algn="ctr">
              <a:spcBef>
                <a:spcPts val="0"/>
              </a:spcBef>
              <a:spcAft>
                <a:spcPts val="0"/>
              </a:spcAft>
              <a:buClr>
                <a:schemeClr val="accent5"/>
              </a:buClr>
              <a:buSzPts val="17300"/>
              <a:buNone/>
              <a:defRPr sz="17300">
                <a:solidFill>
                  <a:schemeClr val="accent5"/>
                </a:solidFill>
              </a:defRPr>
            </a:lvl7pPr>
            <a:lvl8pPr lvl="7" algn="ctr">
              <a:spcBef>
                <a:spcPts val="0"/>
              </a:spcBef>
              <a:spcAft>
                <a:spcPts val="0"/>
              </a:spcAft>
              <a:buClr>
                <a:schemeClr val="accent5"/>
              </a:buClr>
              <a:buSzPts val="17300"/>
              <a:buNone/>
              <a:defRPr sz="17300">
                <a:solidFill>
                  <a:schemeClr val="accent5"/>
                </a:solidFill>
              </a:defRPr>
            </a:lvl8pPr>
            <a:lvl9pPr lvl="8" algn="ctr">
              <a:spcBef>
                <a:spcPts val="0"/>
              </a:spcBef>
              <a:spcAft>
                <a:spcPts val="0"/>
              </a:spcAft>
              <a:buClr>
                <a:schemeClr val="accent5"/>
              </a:buClr>
              <a:buSzPts val="17300"/>
              <a:buNone/>
              <a:defRPr sz="17300">
                <a:solidFill>
                  <a:schemeClr val="accent5"/>
                </a:solidFill>
              </a:defRPr>
            </a:lvl9pPr>
          </a:lstStyle>
          <a:p>
            <a:r>
              <a:t>xx%</a:t>
            </a:r>
          </a:p>
        </p:txBody>
      </p:sp>
      <p:sp>
        <p:nvSpPr>
          <p:cNvPr id="55" name="Google Shape;55;p11"/>
          <p:cNvSpPr txBox="1">
            <a:spLocks noGrp="1"/>
          </p:cNvSpPr>
          <p:nvPr>
            <p:ph type="body" idx="1"/>
          </p:nvPr>
        </p:nvSpPr>
        <p:spPr>
          <a:xfrm>
            <a:off x="517200" y="3892600"/>
            <a:ext cx="11157600" cy="14289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56" name="Google Shape;56;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17200" y="610700"/>
            <a:ext cx="11157600" cy="914700"/>
          </a:xfrm>
          <a:prstGeom prst="rect">
            <a:avLst/>
          </a:prstGeom>
          <a:noFill/>
          <a:ln>
            <a:noFill/>
          </a:ln>
        </p:spPr>
        <p:txBody>
          <a:bodyPr spcFirstLastPara="1" wrap="square" lIns="121900" tIns="121900" rIns="121900" bIns="121900" anchor="b" anchorCtr="0">
            <a:normAutofit/>
          </a:bodyPr>
          <a:lstStyle>
            <a:lvl1pPr lvl="0">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1pPr>
            <a:lvl2pPr lvl="1">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2pPr>
            <a:lvl3pPr lvl="2">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3pPr>
            <a:lvl4pPr lvl="3">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4pPr>
            <a:lvl5pPr lvl="4">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5pPr>
            <a:lvl6pPr lvl="5">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6pPr>
            <a:lvl7pPr lvl="6">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7pPr>
            <a:lvl8pPr lvl="7">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8pPr>
            <a:lvl9pPr lvl="8">
              <a:spcBef>
                <a:spcPts val="0"/>
              </a:spcBef>
              <a:spcAft>
                <a:spcPts val="0"/>
              </a:spcAft>
              <a:buClr>
                <a:schemeClr val="dk1"/>
              </a:buClr>
              <a:buSzPts val="4000"/>
              <a:buFont typeface="Roboto Slab"/>
              <a:buNone/>
              <a:defRPr sz="4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517200" y="1986432"/>
            <a:ext cx="11157600" cy="410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1"/>
              </a:buClr>
              <a:buSzPts val="2400"/>
              <a:buFont typeface="Roboto"/>
              <a:buChar char="●"/>
              <a:defRPr sz="2400">
                <a:solidFill>
                  <a:schemeClr val="dk1"/>
                </a:solidFill>
                <a:latin typeface="Roboto"/>
                <a:ea typeface="Roboto"/>
                <a:cs typeface="Roboto"/>
                <a:sym typeface="Roboto"/>
              </a:defRPr>
            </a:lvl1pPr>
            <a:lvl2pPr marL="914400" lvl="1"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2pPr>
            <a:lvl3pPr marL="1371600" lvl="2"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3pPr>
            <a:lvl4pPr marL="1828800" lvl="3"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4pPr>
            <a:lvl5pPr marL="2286000" lvl="4"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5pPr>
            <a:lvl6pPr marL="2743200" lvl="5"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6pPr>
            <a:lvl7pPr marL="3200400" lvl="6"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7pPr>
            <a:lvl8pPr marL="3657600" lvl="7"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8pPr>
            <a:lvl9pPr marL="4114800" lvl="8" indent="-349250">
              <a:lnSpc>
                <a:spcPct val="115000"/>
              </a:lnSpc>
              <a:spcBef>
                <a:spcPts val="0"/>
              </a:spcBef>
              <a:spcAft>
                <a:spcPts val="0"/>
              </a:spcAft>
              <a:buClr>
                <a:schemeClr val="dk1"/>
              </a:buClr>
              <a:buSzPts val="1900"/>
              <a:buFont typeface="Roboto"/>
              <a:buChar char="■"/>
              <a:defRPr sz="19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1"/>
                </a:solidFill>
                <a:latin typeface="Roboto"/>
                <a:ea typeface="Roboto"/>
                <a:cs typeface="Roboto"/>
                <a:sym typeface="Roboto"/>
              </a:defRPr>
            </a:lvl1pPr>
            <a:lvl2pPr lvl="1" algn="r">
              <a:buNone/>
              <a:defRPr sz="1300">
                <a:solidFill>
                  <a:schemeClr val="dk1"/>
                </a:solidFill>
                <a:latin typeface="Roboto"/>
                <a:ea typeface="Roboto"/>
                <a:cs typeface="Roboto"/>
                <a:sym typeface="Roboto"/>
              </a:defRPr>
            </a:lvl2pPr>
            <a:lvl3pPr lvl="2" algn="r">
              <a:buNone/>
              <a:defRPr sz="1300">
                <a:solidFill>
                  <a:schemeClr val="dk1"/>
                </a:solidFill>
                <a:latin typeface="Roboto"/>
                <a:ea typeface="Roboto"/>
                <a:cs typeface="Roboto"/>
                <a:sym typeface="Roboto"/>
              </a:defRPr>
            </a:lvl3pPr>
            <a:lvl4pPr lvl="3" algn="r">
              <a:buNone/>
              <a:defRPr sz="1300">
                <a:solidFill>
                  <a:schemeClr val="dk1"/>
                </a:solidFill>
                <a:latin typeface="Roboto"/>
                <a:ea typeface="Roboto"/>
                <a:cs typeface="Roboto"/>
                <a:sym typeface="Roboto"/>
              </a:defRPr>
            </a:lvl4pPr>
            <a:lvl5pPr lvl="4" algn="r">
              <a:buNone/>
              <a:defRPr sz="1300">
                <a:solidFill>
                  <a:schemeClr val="dk1"/>
                </a:solidFill>
                <a:latin typeface="Roboto"/>
                <a:ea typeface="Roboto"/>
                <a:cs typeface="Roboto"/>
                <a:sym typeface="Roboto"/>
              </a:defRPr>
            </a:lvl5pPr>
            <a:lvl6pPr lvl="5" algn="r">
              <a:buNone/>
              <a:defRPr sz="1300">
                <a:solidFill>
                  <a:schemeClr val="dk1"/>
                </a:solidFill>
                <a:latin typeface="Roboto"/>
                <a:ea typeface="Roboto"/>
                <a:cs typeface="Roboto"/>
                <a:sym typeface="Roboto"/>
              </a:defRPr>
            </a:lvl6pPr>
            <a:lvl7pPr lvl="6" algn="r">
              <a:buNone/>
              <a:defRPr sz="1300">
                <a:solidFill>
                  <a:schemeClr val="dk1"/>
                </a:solidFill>
                <a:latin typeface="Roboto"/>
                <a:ea typeface="Roboto"/>
                <a:cs typeface="Roboto"/>
                <a:sym typeface="Roboto"/>
              </a:defRPr>
            </a:lvl7pPr>
            <a:lvl8pPr lvl="7" algn="r">
              <a:buNone/>
              <a:defRPr sz="1300">
                <a:solidFill>
                  <a:schemeClr val="dk1"/>
                </a:solidFill>
                <a:latin typeface="Roboto"/>
                <a:ea typeface="Roboto"/>
                <a:cs typeface="Roboto"/>
                <a:sym typeface="Roboto"/>
              </a:defRPr>
            </a:lvl8pPr>
            <a:lvl9pPr lvl="8" algn="r">
              <a:buNone/>
              <a:defRPr sz="13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7.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6AA7"/>
            </a:gs>
            <a:gs pos="100000">
              <a:srgbClr val="021723"/>
            </a:gs>
          </a:gsLst>
          <a:lin ang="5400012" scaled="0"/>
        </a:gradFill>
        <a:effectLst/>
      </p:bgPr>
    </p:bg>
    <p:spTree>
      <p:nvGrpSpPr>
        <p:cNvPr id="1" name="Shape 62"/>
        <p:cNvGrpSpPr/>
        <p:nvPr/>
      </p:nvGrpSpPr>
      <p:grpSpPr>
        <a:xfrm>
          <a:off x="0" y="0"/>
          <a:ext cx="0" cy="0"/>
          <a:chOff x="0" y="0"/>
          <a:chExt cx="0" cy="0"/>
        </a:xfrm>
      </p:grpSpPr>
      <p:pic>
        <p:nvPicPr>
          <p:cNvPr id="3" name="Google Shape;117;p16" descr="image.png">
            <a:extLst>
              <a:ext uri="{FF2B5EF4-FFF2-40B4-BE49-F238E27FC236}">
                <a16:creationId xmlns:a16="http://schemas.microsoft.com/office/drawing/2014/main" id="{F6A3A477-C776-8283-9C5C-CF09C57C5FAE}"/>
              </a:ext>
            </a:extLst>
          </p:cNvPr>
          <p:cNvPicPr preferRelativeResize="0"/>
          <p:nvPr/>
        </p:nvPicPr>
        <p:blipFill rotWithShape="1">
          <a:blip r:embed="rId3">
            <a:alphaModFix/>
          </a:blip>
          <a:srcRect/>
          <a:stretch/>
        </p:blipFill>
        <p:spPr>
          <a:xfrm>
            <a:off x="581025" y="4101047"/>
            <a:ext cx="11029950" cy="1175828"/>
          </a:xfrm>
          <a:prstGeom prst="rect">
            <a:avLst/>
          </a:prstGeom>
          <a:noFill/>
          <a:ln>
            <a:noFill/>
          </a:ln>
        </p:spPr>
      </p:pic>
      <p:pic>
        <p:nvPicPr>
          <p:cNvPr id="2" name="Google Shape;117;p16" descr="image.png">
            <a:extLst>
              <a:ext uri="{FF2B5EF4-FFF2-40B4-BE49-F238E27FC236}">
                <a16:creationId xmlns:a16="http://schemas.microsoft.com/office/drawing/2014/main" id="{7C1D50A7-2585-72D3-0835-2E0C28BCE169}"/>
              </a:ext>
            </a:extLst>
          </p:cNvPr>
          <p:cNvPicPr preferRelativeResize="0"/>
          <p:nvPr/>
        </p:nvPicPr>
        <p:blipFill rotWithShape="1">
          <a:blip r:embed="rId3">
            <a:alphaModFix/>
          </a:blip>
          <a:srcRect/>
          <a:stretch/>
        </p:blipFill>
        <p:spPr>
          <a:xfrm>
            <a:off x="581025" y="1581125"/>
            <a:ext cx="11029950" cy="2231554"/>
          </a:xfrm>
          <a:prstGeom prst="rect">
            <a:avLst/>
          </a:prstGeom>
          <a:noFill/>
          <a:ln>
            <a:noFill/>
          </a:ln>
        </p:spPr>
      </p:pic>
      <p:pic>
        <p:nvPicPr>
          <p:cNvPr id="63" name="Google Shape;63;p13" descr="image.png"/>
          <p:cNvPicPr preferRelativeResize="0"/>
          <p:nvPr/>
        </p:nvPicPr>
        <p:blipFill rotWithShape="1">
          <a:blip r:embed="rId4">
            <a:alphaModFix/>
          </a:blip>
          <a:srcRect/>
          <a:stretch/>
        </p:blipFill>
        <p:spPr>
          <a:xfrm>
            <a:off x="581025" y="3931741"/>
            <a:ext cx="11029950" cy="771525"/>
          </a:xfrm>
          <a:prstGeom prst="rect">
            <a:avLst/>
          </a:prstGeom>
          <a:noFill/>
          <a:ln>
            <a:noFill/>
          </a:ln>
        </p:spPr>
      </p:pic>
      <p:sp>
        <p:nvSpPr>
          <p:cNvPr id="64" name="Google Shape;64;p13"/>
          <p:cNvSpPr txBox="1"/>
          <p:nvPr/>
        </p:nvSpPr>
        <p:spPr>
          <a:xfrm>
            <a:off x="1811860" y="1903962"/>
            <a:ext cx="8377780" cy="15004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dirty="0">
                <a:solidFill>
                  <a:srgbClr val="06B6D4"/>
                </a:solidFill>
                <a:latin typeface="Plus Jakarta Sans SemiBold"/>
                <a:ea typeface="Plus Jakarta Sans SemiBold"/>
                <a:cs typeface="Plus Jakarta Sans SemiBold"/>
                <a:sym typeface="Plus Jakarta Sans SemiBold"/>
              </a:rPr>
              <a:t>MASTER'S THESIS PROPOSAL</a:t>
            </a:r>
            <a:endParaRPr dirty="0"/>
          </a:p>
        </p:txBody>
      </p:sp>
      <p:sp>
        <p:nvSpPr>
          <p:cNvPr id="65" name="Google Shape;65;p13"/>
          <p:cNvSpPr txBox="1"/>
          <p:nvPr/>
        </p:nvSpPr>
        <p:spPr>
          <a:xfrm>
            <a:off x="210026" y="2319221"/>
            <a:ext cx="11581447" cy="581698"/>
          </a:xfrm>
          <a:prstGeom prst="rect">
            <a:avLst/>
          </a:prstGeom>
          <a:noFill/>
          <a:ln>
            <a:noFill/>
          </a:ln>
        </p:spPr>
        <p:txBody>
          <a:bodyPr spcFirstLastPara="1" wrap="square" lIns="0" tIns="0" rIns="0" bIns="0" anchor="t" anchorCtr="0">
            <a:spAutoFit/>
          </a:bodyPr>
          <a:lstStyle/>
          <a:p>
            <a:pPr marL="0" marR="0" lvl="0" indent="0" algn="ctr" rtl="0">
              <a:lnSpc>
                <a:spcPct val="119968"/>
              </a:lnSpc>
              <a:spcBef>
                <a:spcPts val="0"/>
              </a:spcBef>
              <a:spcAft>
                <a:spcPts val="0"/>
              </a:spcAft>
              <a:buNone/>
            </a:pPr>
            <a:r>
              <a:rPr lang="en-US" sz="3150" b="1" i="0" u="none" strike="noStrike" cap="none" dirty="0">
                <a:solidFill>
                  <a:srgbClr val="FFFFFF"/>
                </a:solidFill>
                <a:latin typeface="Plus Jakarta Sans"/>
                <a:ea typeface="Plus Jakarta Sans"/>
                <a:cs typeface="Plus Jakarta Sans"/>
                <a:sym typeface="Plus Jakarta Sans"/>
              </a:rPr>
              <a:t>Automated Blast Radius Measurement &amp; Reduction</a:t>
            </a:r>
            <a:endParaRPr dirty="0"/>
          </a:p>
        </p:txBody>
      </p:sp>
      <p:sp>
        <p:nvSpPr>
          <p:cNvPr id="66" name="Google Shape;66;p13"/>
          <p:cNvSpPr txBox="1"/>
          <p:nvPr/>
        </p:nvSpPr>
        <p:spPr>
          <a:xfrm>
            <a:off x="1952624" y="3065949"/>
            <a:ext cx="8096250" cy="290849"/>
          </a:xfrm>
          <a:prstGeom prst="rect">
            <a:avLst/>
          </a:prstGeom>
          <a:noFill/>
          <a:ln>
            <a:noFill/>
          </a:ln>
        </p:spPr>
        <p:txBody>
          <a:bodyPr spcFirstLastPara="1" wrap="square" lIns="0" tIns="0" rIns="0" bIns="0" anchor="t" anchorCtr="0">
            <a:spAutoFit/>
          </a:bodyPr>
          <a:lstStyle/>
          <a:p>
            <a:pPr marL="0" marR="0" lvl="0" indent="0" algn="ctr" rtl="0">
              <a:lnSpc>
                <a:spcPct val="139925"/>
              </a:lnSpc>
              <a:spcBef>
                <a:spcPts val="0"/>
              </a:spcBef>
              <a:spcAft>
                <a:spcPts val="0"/>
              </a:spcAft>
              <a:buNone/>
            </a:pPr>
            <a:r>
              <a:rPr lang="en-US" sz="1350" b="0" i="0" u="none" strike="noStrike" cap="none" dirty="0">
                <a:solidFill>
                  <a:srgbClr val="9CA3AF"/>
                </a:solidFill>
                <a:latin typeface="Plus Jakarta Sans"/>
                <a:ea typeface="Plus Jakarta Sans"/>
                <a:cs typeface="Plus Jakarta Sans"/>
                <a:sym typeface="Plus Jakarta Sans"/>
              </a:rPr>
              <a:t>Evaluating cloud lateral movement and access paths across AWS workloads.</a:t>
            </a:r>
            <a:endParaRPr dirty="0"/>
          </a:p>
        </p:txBody>
      </p:sp>
      <p:sp>
        <p:nvSpPr>
          <p:cNvPr id="67" name="Google Shape;67;p13"/>
          <p:cNvSpPr txBox="1"/>
          <p:nvPr/>
        </p:nvSpPr>
        <p:spPr>
          <a:xfrm>
            <a:off x="974564" y="4343117"/>
            <a:ext cx="5419725" cy="24288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9CA3AF"/>
                </a:solidFill>
                <a:latin typeface="Plus Jakarta Sans"/>
                <a:ea typeface="Plus Jakarta Sans"/>
                <a:cs typeface="Plus Jakarta Sans"/>
                <a:sym typeface="Plus Jakarta Sans"/>
              </a:rPr>
              <a:t>Student: </a:t>
            </a:r>
            <a:r>
              <a:rPr lang="en-US" sz="1275" b="1" i="0" u="none" strike="noStrike" cap="none">
                <a:solidFill>
                  <a:srgbClr val="FFFFFF"/>
                </a:solidFill>
                <a:latin typeface="Plus Jakarta Sans"/>
                <a:ea typeface="Plus Jakarta Sans"/>
                <a:cs typeface="Plus Jakarta Sans"/>
                <a:sym typeface="Plus Jakarta Sans"/>
              </a:rPr>
              <a:t>Soumik Shadman</a:t>
            </a:r>
            <a:r>
              <a:rPr lang="en-US" sz="1275" b="0" i="0" u="none" strike="noStrike" cap="none">
                <a:solidFill>
                  <a:srgbClr val="9CA3AF"/>
                </a:solidFill>
                <a:latin typeface="Plus Jakarta Sans"/>
                <a:ea typeface="Plus Jakarta Sans"/>
                <a:cs typeface="Plus Jakarta Sans"/>
                <a:sym typeface="Plus Jakarta Sans"/>
              </a:rPr>
              <a:t> (11154499)</a:t>
            </a:r>
            <a:endParaRPr/>
          </a:p>
        </p:txBody>
      </p:sp>
      <p:sp>
        <p:nvSpPr>
          <p:cNvPr id="68" name="Google Shape;68;p13"/>
          <p:cNvSpPr txBox="1"/>
          <p:nvPr/>
        </p:nvSpPr>
        <p:spPr>
          <a:xfrm>
            <a:off x="974564" y="4633629"/>
            <a:ext cx="5419725" cy="24288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dirty="0">
                <a:solidFill>
                  <a:srgbClr val="9CA3AF"/>
                </a:solidFill>
                <a:latin typeface="Plus Jakarta Sans"/>
                <a:ea typeface="Plus Jakarta Sans"/>
                <a:cs typeface="Plus Jakarta Sans"/>
                <a:sym typeface="Plus Jakarta Sans"/>
              </a:rPr>
              <a:t>Program: </a:t>
            </a:r>
            <a:r>
              <a:rPr lang="en-US" sz="1275" b="1" i="0" u="none" strike="noStrike" cap="none" dirty="0">
                <a:solidFill>
                  <a:srgbClr val="FFFFFF"/>
                </a:solidFill>
                <a:latin typeface="Plus Jakarta Sans"/>
                <a:ea typeface="Plus Jakarta Sans"/>
                <a:cs typeface="Plus Jakarta Sans"/>
                <a:sym typeface="Plus Jakarta Sans"/>
              </a:rPr>
              <a:t>M.Sc. Communication Systems and Networks</a:t>
            </a:r>
            <a:endParaRPr dirty="0"/>
          </a:p>
        </p:txBody>
      </p:sp>
      <p:sp>
        <p:nvSpPr>
          <p:cNvPr id="69" name="Google Shape;69;p13"/>
          <p:cNvSpPr txBox="1"/>
          <p:nvPr/>
        </p:nvSpPr>
        <p:spPr>
          <a:xfrm>
            <a:off x="6584789" y="4343117"/>
            <a:ext cx="5419725" cy="24288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dirty="0">
                <a:solidFill>
                  <a:srgbClr val="9CA3AF"/>
                </a:solidFill>
                <a:latin typeface="Plus Jakarta Sans"/>
                <a:ea typeface="Plus Jakarta Sans"/>
                <a:cs typeface="Plus Jakarta Sans"/>
                <a:sym typeface="Plus Jakarta Sans"/>
              </a:rPr>
              <a:t>Institution: </a:t>
            </a:r>
            <a:r>
              <a:rPr lang="en-US" sz="1275" b="1" i="0" u="none" strike="noStrike" cap="none" dirty="0" err="1">
                <a:solidFill>
                  <a:srgbClr val="FFFFFF"/>
                </a:solidFill>
                <a:latin typeface="Plus Jakarta Sans"/>
                <a:ea typeface="Plus Jakarta Sans"/>
                <a:cs typeface="Plus Jakarta Sans"/>
                <a:sym typeface="Plus Jakarta Sans"/>
              </a:rPr>
              <a:t>Technische</a:t>
            </a:r>
            <a:r>
              <a:rPr lang="en-US" sz="1275" b="1" i="0" u="none" strike="noStrike" cap="none" dirty="0">
                <a:solidFill>
                  <a:srgbClr val="FFFFFF"/>
                </a:solidFill>
                <a:latin typeface="Plus Jakarta Sans"/>
                <a:ea typeface="Plus Jakarta Sans"/>
                <a:cs typeface="Plus Jakarta Sans"/>
                <a:sym typeface="Plus Jakarta Sans"/>
              </a:rPr>
              <a:t> Hochschule Köln (TH Köln)</a:t>
            </a:r>
            <a:endParaRPr dirty="0"/>
          </a:p>
        </p:txBody>
      </p:sp>
      <p:sp>
        <p:nvSpPr>
          <p:cNvPr id="70" name="Google Shape;70;p13"/>
          <p:cNvSpPr txBox="1"/>
          <p:nvPr/>
        </p:nvSpPr>
        <p:spPr>
          <a:xfrm>
            <a:off x="6584789" y="4633629"/>
            <a:ext cx="5419725" cy="24288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dirty="0">
                <a:solidFill>
                  <a:srgbClr val="9CA3AF"/>
                </a:solidFill>
                <a:latin typeface="Plus Jakarta Sans"/>
                <a:ea typeface="Plus Jakarta Sans"/>
                <a:cs typeface="Plus Jakarta Sans"/>
                <a:sym typeface="Plus Jakarta Sans"/>
              </a:rPr>
              <a:t>Company Partner: </a:t>
            </a:r>
            <a:r>
              <a:rPr lang="en-US" sz="1275" b="1" i="0" u="none" strike="noStrike" cap="none" dirty="0">
                <a:solidFill>
                  <a:srgbClr val="FFFFFF"/>
                </a:solidFill>
                <a:latin typeface="Plus Jakarta Sans"/>
                <a:ea typeface="Plus Jakarta Sans"/>
                <a:cs typeface="Plus Jakarta Sans"/>
                <a:sym typeface="Plus Jakarta Sans"/>
              </a:rPr>
              <a:t>Dyn Media GmbH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
        <p:cNvGrpSpPr/>
        <p:nvPr/>
      </p:nvGrpSpPr>
      <p:grpSpPr>
        <a:xfrm>
          <a:off x="0" y="0"/>
          <a:ext cx="0" cy="0"/>
          <a:chOff x="0" y="0"/>
          <a:chExt cx="0" cy="0"/>
        </a:xfrm>
      </p:grpSpPr>
      <p:pic>
        <p:nvPicPr>
          <p:cNvPr id="75" name="Google Shape;75;p14" descr="image.png"/>
          <p:cNvPicPr preferRelativeResize="0"/>
          <p:nvPr/>
        </p:nvPicPr>
        <p:blipFill rotWithShape="1">
          <a:blip r:embed="rId3">
            <a:alphaModFix/>
          </a:blip>
          <a:srcRect/>
          <a:stretch/>
        </p:blipFill>
        <p:spPr>
          <a:xfrm>
            <a:off x="581025" y="2511921"/>
            <a:ext cx="5324475" cy="2451199"/>
          </a:xfrm>
          <a:prstGeom prst="rect">
            <a:avLst/>
          </a:prstGeom>
          <a:noFill/>
          <a:ln>
            <a:noFill/>
          </a:ln>
        </p:spPr>
      </p:pic>
      <p:pic>
        <p:nvPicPr>
          <p:cNvPr id="76" name="Google Shape;76;p14" descr="image.png"/>
          <p:cNvPicPr preferRelativeResize="0"/>
          <p:nvPr/>
        </p:nvPicPr>
        <p:blipFill rotWithShape="1">
          <a:blip r:embed="rId4">
            <a:alphaModFix/>
          </a:blip>
          <a:srcRect/>
          <a:stretch/>
        </p:blipFill>
        <p:spPr>
          <a:xfrm>
            <a:off x="6286500" y="2511921"/>
            <a:ext cx="5324475" cy="2451199"/>
          </a:xfrm>
          <a:prstGeom prst="rect">
            <a:avLst/>
          </a:prstGeom>
          <a:noFill/>
          <a:ln>
            <a:noFill/>
          </a:ln>
        </p:spPr>
      </p:pic>
      <p:sp>
        <p:nvSpPr>
          <p:cNvPr id="77" name="Google Shape;77;p14"/>
          <p:cNvSpPr txBox="1"/>
          <p:nvPr/>
        </p:nvSpPr>
        <p:spPr>
          <a:xfrm>
            <a:off x="1085850" y="2750046"/>
            <a:ext cx="4810601"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The AWS Security Risk</a:t>
            </a:r>
            <a:endParaRPr/>
          </a:p>
        </p:txBody>
      </p:sp>
      <p:sp>
        <p:nvSpPr>
          <p:cNvPr id="78" name="Google Shape;78;p14"/>
          <p:cNvSpPr txBox="1"/>
          <p:nvPr/>
        </p:nvSpPr>
        <p:spPr>
          <a:xfrm>
            <a:off x="6791325" y="2750046"/>
            <a:ext cx="4810601"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dirty="0">
                <a:solidFill>
                  <a:srgbClr val="06B6D4"/>
                </a:solidFill>
                <a:latin typeface="Plus Jakarta Sans"/>
                <a:ea typeface="Plus Jakarta Sans"/>
                <a:cs typeface="Plus Jakarta Sans"/>
                <a:sym typeface="Plus Jakarta Sans"/>
              </a:rPr>
              <a:t>The Industry Challenge</a:t>
            </a:r>
            <a:endParaRPr dirty="0"/>
          </a:p>
        </p:txBody>
      </p:sp>
      <p:pic>
        <p:nvPicPr>
          <p:cNvPr id="79" name="Google Shape;79;p14" descr="image.png"/>
          <p:cNvPicPr preferRelativeResize="0"/>
          <p:nvPr/>
        </p:nvPicPr>
        <p:blipFill rotWithShape="1">
          <a:blip r:embed="rId5">
            <a:alphaModFix/>
          </a:blip>
          <a:srcRect/>
          <a:stretch/>
        </p:blipFill>
        <p:spPr>
          <a:xfrm>
            <a:off x="819150" y="2783383"/>
            <a:ext cx="171450" cy="171450"/>
          </a:xfrm>
          <a:prstGeom prst="rect">
            <a:avLst/>
          </a:prstGeom>
          <a:noFill/>
          <a:ln>
            <a:noFill/>
          </a:ln>
        </p:spPr>
      </p:pic>
      <p:sp>
        <p:nvSpPr>
          <p:cNvPr id="80" name="Google Shape;80;p14"/>
          <p:cNvSpPr txBox="1"/>
          <p:nvPr/>
        </p:nvSpPr>
        <p:spPr>
          <a:xfrm>
            <a:off x="1047750" y="3102471"/>
            <a:ext cx="4619625" cy="517065"/>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Excessive Permissions:</a:t>
            </a:r>
            <a:r>
              <a:rPr lang="en-US" sz="1200" b="0" i="0" u="none" strike="noStrike" cap="none" dirty="0">
                <a:solidFill>
                  <a:srgbClr val="D1D5DB"/>
                </a:solidFill>
                <a:latin typeface="Plus Jakarta Sans"/>
                <a:ea typeface="Plus Jakarta Sans"/>
                <a:cs typeface="Plus Jakarta Sans"/>
                <a:sym typeface="Plus Jakarta Sans"/>
              </a:rPr>
              <a:t> Workloads often have access to far more services than they actually need to function.</a:t>
            </a:r>
            <a:endParaRPr dirty="0"/>
          </a:p>
        </p:txBody>
      </p:sp>
      <p:sp>
        <p:nvSpPr>
          <p:cNvPr id="81" name="Google Shape;81;p14"/>
          <p:cNvSpPr txBox="1"/>
          <p:nvPr/>
        </p:nvSpPr>
        <p:spPr>
          <a:xfrm>
            <a:off x="1047750" y="3643312"/>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Unchecked Spread:</a:t>
            </a:r>
            <a:r>
              <a:rPr lang="en-US" sz="1200" b="0" i="0" u="none" strike="noStrike" cap="none" dirty="0">
                <a:solidFill>
                  <a:srgbClr val="D1D5DB"/>
                </a:solidFill>
                <a:latin typeface="Plus Jakarta Sans"/>
                <a:ea typeface="Plus Jakarta Sans"/>
                <a:cs typeface="Plus Jakarta Sans"/>
                <a:sym typeface="Plus Jakarta Sans"/>
              </a:rPr>
              <a:t> Compressing one resource can trigger a large, unchecked lateral movement attack.</a:t>
            </a:r>
            <a:endParaRPr dirty="0"/>
          </a:p>
        </p:txBody>
      </p:sp>
      <p:sp>
        <p:nvSpPr>
          <p:cNvPr id="82" name="Google Shape;82;p14"/>
          <p:cNvSpPr txBox="1"/>
          <p:nvPr/>
        </p:nvSpPr>
        <p:spPr>
          <a:xfrm>
            <a:off x="1047750" y="4184153"/>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Visibility Gaps:</a:t>
            </a:r>
            <a:r>
              <a:rPr lang="en-US" sz="1200" b="0" i="0" u="none" strike="noStrike" cap="none" dirty="0">
                <a:solidFill>
                  <a:srgbClr val="D1D5DB"/>
                </a:solidFill>
                <a:latin typeface="Plus Jakarta Sans"/>
                <a:ea typeface="Plus Jakarta Sans"/>
                <a:cs typeface="Plus Jakarta Sans"/>
                <a:sym typeface="Plus Jakarta Sans"/>
              </a:rPr>
              <a:t> Organizations lack a direct way to visualize the real logical reachability of threats.</a:t>
            </a:r>
            <a:endParaRPr dirty="0"/>
          </a:p>
        </p:txBody>
      </p:sp>
      <p:pic>
        <p:nvPicPr>
          <p:cNvPr id="83" name="Google Shape;83;p14" descr="image.png"/>
          <p:cNvPicPr preferRelativeResize="0"/>
          <p:nvPr/>
        </p:nvPicPr>
        <p:blipFill rotWithShape="1">
          <a:blip r:embed="rId6">
            <a:alphaModFix/>
          </a:blip>
          <a:srcRect/>
          <a:stretch/>
        </p:blipFill>
        <p:spPr>
          <a:xfrm>
            <a:off x="6524625" y="2783383"/>
            <a:ext cx="171450" cy="171450"/>
          </a:xfrm>
          <a:prstGeom prst="rect">
            <a:avLst/>
          </a:prstGeom>
          <a:noFill/>
          <a:ln>
            <a:noFill/>
          </a:ln>
        </p:spPr>
      </p:pic>
      <p:sp>
        <p:nvSpPr>
          <p:cNvPr id="84" name="Google Shape;84;p14"/>
          <p:cNvSpPr txBox="1"/>
          <p:nvPr/>
        </p:nvSpPr>
        <p:spPr>
          <a:xfrm>
            <a:off x="6753225" y="3102471"/>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No Unified Metric:</a:t>
            </a:r>
            <a:r>
              <a:rPr lang="en-US" sz="1200" b="0" i="0" u="none" strike="noStrike" cap="none" dirty="0">
                <a:solidFill>
                  <a:srgbClr val="D1D5DB"/>
                </a:solidFill>
                <a:latin typeface="Plus Jakarta Sans"/>
                <a:ea typeface="Plus Jakarta Sans"/>
                <a:cs typeface="Plus Jakarta Sans"/>
                <a:sym typeface="Plus Jakarta Sans"/>
              </a:rPr>
              <a:t> Security teams cannot measure the complete blast radius with a single direct score.</a:t>
            </a:r>
            <a:endParaRPr dirty="0"/>
          </a:p>
        </p:txBody>
      </p:sp>
      <p:sp>
        <p:nvSpPr>
          <p:cNvPr id="85" name="Google Shape;85;p14"/>
          <p:cNvSpPr txBox="1"/>
          <p:nvPr/>
        </p:nvSpPr>
        <p:spPr>
          <a:xfrm>
            <a:off x="6753225" y="3643312"/>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Static Scan Limitations:</a:t>
            </a:r>
            <a:r>
              <a:rPr lang="en-US" sz="1200" b="0" i="0" u="none" strike="noStrike" cap="none" dirty="0">
                <a:solidFill>
                  <a:srgbClr val="D1D5DB"/>
                </a:solidFill>
                <a:latin typeface="Plus Jakarta Sans"/>
                <a:ea typeface="Plus Jakarta Sans"/>
                <a:cs typeface="Plus Jakarta Sans"/>
                <a:sym typeface="Plus Jakarta Sans"/>
              </a:rPr>
              <a:t> Common tools check basic configurations but fail to model complete network/IAM paths.</a:t>
            </a:r>
            <a:endParaRPr dirty="0"/>
          </a:p>
        </p:txBody>
      </p:sp>
      <p:sp>
        <p:nvSpPr>
          <p:cNvPr id="86" name="Google Shape;86;p14"/>
          <p:cNvSpPr txBox="1"/>
          <p:nvPr/>
        </p:nvSpPr>
        <p:spPr>
          <a:xfrm>
            <a:off x="6753225" y="4184153"/>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No Control Priority:</a:t>
            </a:r>
            <a:r>
              <a:rPr lang="en-US" sz="1200" b="0" i="0" u="none" strike="noStrike" cap="none" dirty="0">
                <a:solidFill>
                  <a:srgbClr val="D1D5DB"/>
                </a:solidFill>
                <a:latin typeface="Plus Jakarta Sans"/>
                <a:ea typeface="Plus Jakarta Sans"/>
                <a:cs typeface="Plus Jakarta Sans"/>
                <a:sym typeface="Plus Jakarta Sans"/>
              </a:rPr>
              <a:t> Difficult to evaluate which exact configuration changes bring the highest risk reduction.</a:t>
            </a:r>
            <a:endParaRPr dirty="0"/>
          </a:p>
        </p:txBody>
      </p:sp>
      <p:sp>
        <p:nvSpPr>
          <p:cNvPr id="87" name="Google Shape;87;p14"/>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Motivation &amp; Problem</a:t>
            </a:r>
            <a:endParaRPr/>
          </a:p>
        </p:txBody>
      </p:sp>
      <p:sp>
        <p:nvSpPr>
          <p:cNvPr id="88" name="Google Shape;88;p14"/>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9" name="Google Shape;89;p14" descr="image.png"/>
          <p:cNvPicPr preferRelativeResize="0"/>
          <p:nvPr/>
        </p:nvPicPr>
        <p:blipFill rotWithShape="1">
          <a:blip r:embed="rId7">
            <a:alphaModFix/>
          </a:blip>
          <a:srcRect/>
          <a:stretch/>
        </p:blipFill>
        <p:spPr>
          <a:xfrm>
            <a:off x="819150" y="3121521"/>
            <a:ext cx="142875" cy="142875"/>
          </a:xfrm>
          <a:prstGeom prst="rect">
            <a:avLst/>
          </a:prstGeom>
          <a:noFill/>
          <a:ln>
            <a:noFill/>
          </a:ln>
        </p:spPr>
      </p:pic>
      <p:pic>
        <p:nvPicPr>
          <p:cNvPr id="90" name="Google Shape;90;p14" descr="image.png"/>
          <p:cNvPicPr preferRelativeResize="0"/>
          <p:nvPr/>
        </p:nvPicPr>
        <p:blipFill rotWithShape="1">
          <a:blip r:embed="rId7">
            <a:alphaModFix/>
          </a:blip>
          <a:srcRect/>
          <a:stretch/>
        </p:blipFill>
        <p:spPr>
          <a:xfrm>
            <a:off x="819150" y="3662362"/>
            <a:ext cx="142875" cy="142875"/>
          </a:xfrm>
          <a:prstGeom prst="rect">
            <a:avLst/>
          </a:prstGeom>
          <a:noFill/>
          <a:ln>
            <a:noFill/>
          </a:ln>
        </p:spPr>
      </p:pic>
      <p:pic>
        <p:nvPicPr>
          <p:cNvPr id="91" name="Google Shape;91;p14" descr="image.png"/>
          <p:cNvPicPr preferRelativeResize="0"/>
          <p:nvPr/>
        </p:nvPicPr>
        <p:blipFill rotWithShape="1">
          <a:blip r:embed="rId7">
            <a:alphaModFix/>
          </a:blip>
          <a:srcRect/>
          <a:stretch/>
        </p:blipFill>
        <p:spPr>
          <a:xfrm>
            <a:off x="819150" y="4203203"/>
            <a:ext cx="142875" cy="142875"/>
          </a:xfrm>
          <a:prstGeom prst="rect">
            <a:avLst/>
          </a:prstGeom>
          <a:noFill/>
          <a:ln>
            <a:noFill/>
          </a:ln>
        </p:spPr>
      </p:pic>
      <p:pic>
        <p:nvPicPr>
          <p:cNvPr id="92" name="Google Shape;92;p14" descr="image.png"/>
          <p:cNvPicPr preferRelativeResize="0"/>
          <p:nvPr/>
        </p:nvPicPr>
        <p:blipFill rotWithShape="1">
          <a:blip r:embed="rId7">
            <a:alphaModFix/>
          </a:blip>
          <a:srcRect/>
          <a:stretch/>
        </p:blipFill>
        <p:spPr>
          <a:xfrm>
            <a:off x="6524625" y="3121521"/>
            <a:ext cx="142875" cy="142875"/>
          </a:xfrm>
          <a:prstGeom prst="rect">
            <a:avLst/>
          </a:prstGeom>
          <a:noFill/>
          <a:ln>
            <a:noFill/>
          </a:ln>
        </p:spPr>
      </p:pic>
      <p:pic>
        <p:nvPicPr>
          <p:cNvPr id="93" name="Google Shape;93;p14" descr="image.png"/>
          <p:cNvPicPr preferRelativeResize="0"/>
          <p:nvPr/>
        </p:nvPicPr>
        <p:blipFill rotWithShape="1">
          <a:blip r:embed="rId7">
            <a:alphaModFix/>
          </a:blip>
          <a:srcRect/>
          <a:stretch/>
        </p:blipFill>
        <p:spPr>
          <a:xfrm>
            <a:off x="6524625" y="3662362"/>
            <a:ext cx="142875" cy="142875"/>
          </a:xfrm>
          <a:prstGeom prst="rect">
            <a:avLst/>
          </a:prstGeom>
          <a:noFill/>
          <a:ln>
            <a:noFill/>
          </a:ln>
        </p:spPr>
      </p:pic>
      <p:pic>
        <p:nvPicPr>
          <p:cNvPr id="94" name="Google Shape;94;p14" descr="image.png"/>
          <p:cNvPicPr preferRelativeResize="0"/>
          <p:nvPr/>
        </p:nvPicPr>
        <p:blipFill rotWithShape="1">
          <a:blip r:embed="rId7">
            <a:alphaModFix/>
          </a:blip>
          <a:srcRect/>
          <a:stretch/>
        </p:blipFill>
        <p:spPr>
          <a:xfrm>
            <a:off x="6524625" y="4203203"/>
            <a:ext cx="142875" cy="142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581025" y="2889795"/>
            <a:ext cx="3524250" cy="1695450"/>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4333875" y="2889795"/>
            <a:ext cx="3524250" cy="1695450"/>
          </a:xfrm>
          <a:prstGeom prst="rect">
            <a:avLst/>
          </a:prstGeom>
          <a:noFill/>
          <a:ln>
            <a:noFill/>
          </a:ln>
        </p:spPr>
      </p:pic>
      <p:pic>
        <p:nvPicPr>
          <p:cNvPr id="101" name="Google Shape;101;p15" descr="image.png"/>
          <p:cNvPicPr preferRelativeResize="0"/>
          <p:nvPr/>
        </p:nvPicPr>
        <p:blipFill rotWithShape="1">
          <a:blip r:embed="rId3">
            <a:alphaModFix/>
          </a:blip>
          <a:srcRect/>
          <a:stretch/>
        </p:blipFill>
        <p:spPr>
          <a:xfrm>
            <a:off x="8086725" y="2889795"/>
            <a:ext cx="3524250" cy="1695450"/>
          </a:xfrm>
          <a:prstGeom prst="rect">
            <a:avLst/>
          </a:prstGeom>
          <a:noFill/>
          <a:ln>
            <a:noFill/>
          </a:ln>
        </p:spPr>
      </p:pic>
      <p:sp>
        <p:nvSpPr>
          <p:cNvPr id="102" name="Google Shape;102;p15"/>
          <p:cNvSpPr txBox="1"/>
          <p:nvPr/>
        </p:nvSpPr>
        <p:spPr>
          <a:xfrm>
            <a:off x="1104900" y="3127920"/>
            <a:ext cx="2900362"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dirty="0">
                <a:solidFill>
                  <a:srgbClr val="06B6D4"/>
                </a:solidFill>
                <a:latin typeface="Plus Jakarta Sans"/>
                <a:ea typeface="Plus Jakarta Sans"/>
                <a:cs typeface="Plus Jakarta Sans"/>
                <a:sym typeface="Plus Jakarta Sans"/>
              </a:rPr>
              <a:t>Graph Model</a:t>
            </a:r>
            <a:endParaRPr dirty="0"/>
          </a:p>
        </p:txBody>
      </p:sp>
      <p:sp>
        <p:nvSpPr>
          <p:cNvPr id="103" name="Google Shape;103;p15"/>
          <p:cNvSpPr txBox="1"/>
          <p:nvPr/>
        </p:nvSpPr>
        <p:spPr>
          <a:xfrm>
            <a:off x="819150" y="3613695"/>
            <a:ext cx="30480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Define a solid graph-based math model representing true AWS workload link states.</a:t>
            </a:r>
            <a:endParaRPr dirty="0"/>
          </a:p>
        </p:txBody>
      </p:sp>
      <p:sp>
        <p:nvSpPr>
          <p:cNvPr id="104" name="Google Shape;104;p15"/>
          <p:cNvSpPr txBox="1"/>
          <p:nvPr/>
        </p:nvSpPr>
        <p:spPr>
          <a:xfrm>
            <a:off x="4857750" y="3127920"/>
            <a:ext cx="2900362"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dirty="0">
                <a:solidFill>
                  <a:srgbClr val="06B6D4"/>
                </a:solidFill>
                <a:latin typeface="Plus Jakarta Sans"/>
                <a:ea typeface="Plus Jakarta Sans"/>
                <a:cs typeface="Plus Jakarta Sans"/>
                <a:sym typeface="Plus Jakarta Sans"/>
              </a:rPr>
              <a:t>Custom Scanner</a:t>
            </a:r>
            <a:endParaRPr dirty="0"/>
          </a:p>
        </p:txBody>
      </p:sp>
      <p:sp>
        <p:nvSpPr>
          <p:cNvPr id="105" name="Google Shape;105;p15"/>
          <p:cNvSpPr txBox="1"/>
          <p:nvPr/>
        </p:nvSpPr>
        <p:spPr>
          <a:xfrm>
            <a:off x="4572000" y="3613695"/>
            <a:ext cx="30480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Build an automated Python discovery engine to parse live AWS resources and map paths.</a:t>
            </a:r>
            <a:endParaRPr dirty="0"/>
          </a:p>
        </p:txBody>
      </p:sp>
      <p:sp>
        <p:nvSpPr>
          <p:cNvPr id="106" name="Google Shape;106;p15"/>
          <p:cNvSpPr txBox="1"/>
          <p:nvPr/>
        </p:nvSpPr>
        <p:spPr>
          <a:xfrm>
            <a:off x="8591550" y="3127920"/>
            <a:ext cx="2920365"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dirty="0">
                <a:solidFill>
                  <a:srgbClr val="06B6D4"/>
                </a:solidFill>
                <a:latin typeface="Plus Jakarta Sans"/>
                <a:ea typeface="Plus Jakarta Sans"/>
                <a:cs typeface="Plus Jakarta Sans"/>
                <a:sym typeface="Plus Jakarta Sans"/>
              </a:rPr>
              <a:t>Control Testing</a:t>
            </a:r>
            <a:endParaRPr dirty="0"/>
          </a:p>
        </p:txBody>
      </p:sp>
      <p:sp>
        <p:nvSpPr>
          <p:cNvPr id="107" name="Google Shape;107;p15"/>
          <p:cNvSpPr txBox="1"/>
          <p:nvPr/>
        </p:nvSpPr>
        <p:spPr>
          <a:xfrm>
            <a:off x="8324850" y="3613695"/>
            <a:ext cx="3048000" cy="6000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Apply step-by-step hardening changes to measure control effectiveness and validate the model.</a:t>
            </a:r>
            <a:endParaRPr dirty="0"/>
          </a:p>
        </p:txBody>
      </p:sp>
      <p:pic>
        <p:nvPicPr>
          <p:cNvPr id="108" name="Google Shape;108;p15" descr="image.png"/>
          <p:cNvPicPr preferRelativeResize="0"/>
          <p:nvPr/>
        </p:nvPicPr>
        <p:blipFill rotWithShape="1">
          <a:blip r:embed="rId5">
            <a:alphaModFix/>
          </a:blip>
          <a:srcRect/>
          <a:stretch/>
        </p:blipFill>
        <p:spPr>
          <a:xfrm>
            <a:off x="819150" y="3161258"/>
            <a:ext cx="190500" cy="171450"/>
          </a:xfrm>
          <a:prstGeom prst="rect">
            <a:avLst/>
          </a:prstGeom>
          <a:noFill/>
          <a:ln>
            <a:noFill/>
          </a:ln>
        </p:spPr>
      </p:pic>
      <p:pic>
        <p:nvPicPr>
          <p:cNvPr id="109" name="Google Shape;109;p15" descr="image.png"/>
          <p:cNvPicPr preferRelativeResize="0"/>
          <p:nvPr/>
        </p:nvPicPr>
        <p:blipFill rotWithShape="1">
          <a:blip r:embed="rId6">
            <a:alphaModFix/>
          </a:blip>
          <a:srcRect/>
          <a:stretch/>
        </p:blipFill>
        <p:spPr>
          <a:xfrm>
            <a:off x="4572000" y="3161258"/>
            <a:ext cx="190500" cy="171450"/>
          </a:xfrm>
          <a:prstGeom prst="rect">
            <a:avLst/>
          </a:prstGeom>
          <a:noFill/>
          <a:ln>
            <a:noFill/>
          </a:ln>
        </p:spPr>
      </p:pic>
      <p:pic>
        <p:nvPicPr>
          <p:cNvPr id="110" name="Google Shape;110;p15" descr="image.png"/>
          <p:cNvPicPr preferRelativeResize="0"/>
          <p:nvPr/>
        </p:nvPicPr>
        <p:blipFill rotWithShape="1">
          <a:blip r:embed="rId7">
            <a:alphaModFix/>
          </a:blip>
          <a:srcRect/>
          <a:stretch/>
        </p:blipFill>
        <p:spPr>
          <a:xfrm>
            <a:off x="8324850" y="3161258"/>
            <a:ext cx="171450" cy="171450"/>
          </a:xfrm>
          <a:prstGeom prst="rect">
            <a:avLst/>
          </a:prstGeom>
          <a:noFill/>
          <a:ln>
            <a:noFill/>
          </a:ln>
        </p:spPr>
      </p:pic>
      <p:sp>
        <p:nvSpPr>
          <p:cNvPr id="111" name="Google Shape;111;p15"/>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Research Objectives</a:t>
            </a:r>
            <a:endParaRPr/>
          </a:p>
        </p:txBody>
      </p:sp>
      <p:sp>
        <p:nvSpPr>
          <p:cNvPr id="112" name="Google Shape;112;p15"/>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6"/>
        <p:cNvGrpSpPr/>
        <p:nvPr/>
      </p:nvGrpSpPr>
      <p:grpSpPr>
        <a:xfrm>
          <a:off x="0" y="0"/>
          <a:ext cx="0" cy="0"/>
          <a:chOff x="0" y="0"/>
          <a:chExt cx="0" cy="0"/>
        </a:xfrm>
      </p:grpSpPr>
      <p:pic>
        <p:nvPicPr>
          <p:cNvPr id="117" name="Google Shape;117;p16" descr="image.png"/>
          <p:cNvPicPr preferRelativeResize="0"/>
          <p:nvPr/>
        </p:nvPicPr>
        <p:blipFill rotWithShape="1">
          <a:blip r:embed="rId3">
            <a:alphaModFix/>
          </a:blip>
          <a:srcRect/>
          <a:stretch/>
        </p:blipFill>
        <p:spPr>
          <a:xfrm>
            <a:off x="581025" y="2782341"/>
            <a:ext cx="5324475" cy="1910357"/>
          </a:xfrm>
          <a:prstGeom prst="rect">
            <a:avLst/>
          </a:prstGeom>
          <a:noFill/>
          <a:ln>
            <a:noFill/>
          </a:ln>
        </p:spPr>
      </p:pic>
      <p:pic>
        <p:nvPicPr>
          <p:cNvPr id="118" name="Google Shape;118;p16" descr="image.png"/>
          <p:cNvPicPr preferRelativeResize="0"/>
          <p:nvPr/>
        </p:nvPicPr>
        <p:blipFill rotWithShape="1">
          <a:blip r:embed="rId3">
            <a:alphaModFix/>
          </a:blip>
          <a:srcRect/>
          <a:stretch/>
        </p:blipFill>
        <p:spPr>
          <a:xfrm>
            <a:off x="6286500" y="2782341"/>
            <a:ext cx="5324475" cy="1910357"/>
          </a:xfrm>
          <a:prstGeom prst="rect">
            <a:avLst/>
          </a:prstGeom>
          <a:noFill/>
          <a:ln>
            <a:noFill/>
          </a:ln>
        </p:spPr>
      </p:pic>
      <p:sp>
        <p:nvSpPr>
          <p:cNvPr id="119" name="Google Shape;119;p16"/>
          <p:cNvSpPr txBox="1"/>
          <p:nvPr/>
        </p:nvSpPr>
        <p:spPr>
          <a:xfrm>
            <a:off x="1085850" y="3020466"/>
            <a:ext cx="4810601"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RQ1 &amp; RQ2</a:t>
            </a:r>
            <a:endParaRPr/>
          </a:p>
        </p:txBody>
      </p:sp>
      <p:sp>
        <p:nvSpPr>
          <p:cNvPr id="120" name="Google Shape;120;p16"/>
          <p:cNvSpPr txBox="1"/>
          <p:nvPr/>
        </p:nvSpPr>
        <p:spPr>
          <a:xfrm>
            <a:off x="6838950" y="3020466"/>
            <a:ext cx="4760595"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RQ3 &amp; RQ4</a:t>
            </a:r>
            <a:endParaRPr/>
          </a:p>
        </p:txBody>
      </p:sp>
      <p:pic>
        <p:nvPicPr>
          <p:cNvPr id="121" name="Google Shape;121;p16" descr="image.png"/>
          <p:cNvPicPr preferRelativeResize="0"/>
          <p:nvPr/>
        </p:nvPicPr>
        <p:blipFill rotWithShape="1">
          <a:blip r:embed="rId4">
            <a:alphaModFix/>
          </a:blip>
          <a:srcRect/>
          <a:stretch/>
        </p:blipFill>
        <p:spPr>
          <a:xfrm>
            <a:off x="819150" y="3053804"/>
            <a:ext cx="171450" cy="171450"/>
          </a:xfrm>
          <a:prstGeom prst="rect">
            <a:avLst/>
          </a:prstGeom>
          <a:noFill/>
          <a:ln>
            <a:noFill/>
          </a:ln>
        </p:spPr>
      </p:pic>
      <p:sp>
        <p:nvSpPr>
          <p:cNvPr id="122" name="Google Shape;122;p16"/>
          <p:cNvSpPr txBox="1"/>
          <p:nvPr/>
        </p:nvSpPr>
        <p:spPr>
          <a:xfrm>
            <a:off x="1047750" y="3372891"/>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Modeling Reach:</a:t>
            </a:r>
            <a:r>
              <a:rPr lang="en-US" sz="1200" b="0" i="0" u="none" strike="noStrike" cap="none" dirty="0">
                <a:solidFill>
                  <a:srgbClr val="D1D5DB"/>
                </a:solidFill>
                <a:latin typeface="Plus Jakarta Sans"/>
                <a:ea typeface="Plus Jakarta Sans"/>
                <a:cs typeface="Plus Jakarta Sans"/>
                <a:sym typeface="Plus Jakarta Sans"/>
              </a:rPr>
              <a:t> How can AWS blast radius be formally represented and automatically scanned?</a:t>
            </a:r>
            <a:endParaRPr dirty="0"/>
          </a:p>
        </p:txBody>
      </p:sp>
      <p:sp>
        <p:nvSpPr>
          <p:cNvPr id="123" name="Google Shape;123;p16"/>
          <p:cNvSpPr txBox="1"/>
          <p:nvPr/>
        </p:nvSpPr>
        <p:spPr>
          <a:xfrm>
            <a:off x="1047750" y="3913733"/>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Control Impact:</a:t>
            </a:r>
            <a:r>
              <a:rPr lang="en-US" sz="1200" b="0" i="0" u="none" strike="noStrike" cap="none" dirty="0">
                <a:solidFill>
                  <a:srgbClr val="D1D5DB"/>
                </a:solidFill>
                <a:latin typeface="Plus Jakarta Sans"/>
                <a:ea typeface="Plus Jakarta Sans"/>
                <a:cs typeface="Plus Jakarta Sans"/>
                <a:sym typeface="Plus Jakarta Sans"/>
              </a:rPr>
              <a:t> Which specific cloud security controls yield the greatest reduction in the blast radius score?</a:t>
            </a:r>
            <a:endParaRPr dirty="0"/>
          </a:p>
        </p:txBody>
      </p:sp>
      <p:pic>
        <p:nvPicPr>
          <p:cNvPr id="124" name="Google Shape;124;p16" descr="image.png"/>
          <p:cNvPicPr preferRelativeResize="0"/>
          <p:nvPr/>
        </p:nvPicPr>
        <p:blipFill rotWithShape="1">
          <a:blip r:embed="rId5">
            <a:alphaModFix/>
          </a:blip>
          <a:srcRect/>
          <a:stretch/>
        </p:blipFill>
        <p:spPr>
          <a:xfrm>
            <a:off x="6524625" y="3053804"/>
            <a:ext cx="219075" cy="171450"/>
          </a:xfrm>
          <a:prstGeom prst="rect">
            <a:avLst/>
          </a:prstGeom>
          <a:noFill/>
          <a:ln>
            <a:noFill/>
          </a:ln>
        </p:spPr>
      </p:pic>
      <p:sp>
        <p:nvSpPr>
          <p:cNvPr id="125" name="Google Shape;125;p16"/>
          <p:cNvSpPr txBox="1"/>
          <p:nvPr/>
        </p:nvSpPr>
        <p:spPr>
          <a:xfrm>
            <a:off x="6753225" y="3372891"/>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Architecture Variance:</a:t>
            </a:r>
            <a:r>
              <a:rPr lang="en-US" sz="1200" b="0" i="0" u="none" strike="noStrike" cap="none" dirty="0">
                <a:solidFill>
                  <a:srgbClr val="D1D5DB"/>
                </a:solidFill>
                <a:latin typeface="Plus Jakarta Sans"/>
                <a:ea typeface="Plus Jakarta Sans"/>
                <a:cs typeface="Plus Jakarta Sans"/>
                <a:sym typeface="Plus Jakarta Sans"/>
              </a:rPr>
              <a:t> Does control effectiveness differ between traditional (EC2) and serverless architectures?</a:t>
            </a:r>
            <a:endParaRPr dirty="0"/>
          </a:p>
        </p:txBody>
      </p:sp>
      <p:sp>
        <p:nvSpPr>
          <p:cNvPr id="126" name="Google Shape;126;p16"/>
          <p:cNvSpPr txBox="1"/>
          <p:nvPr/>
        </p:nvSpPr>
        <p:spPr>
          <a:xfrm>
            <a:off x="6753225" y="3913733"/>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Model Validation:</a:t>
            </a:r>
            <a:r>
              <a:rPr lang="en-US" sz="1200" b="0" i="0" u="none" strike="noStrike" cap="none" dirty="0">
                <a:solidFill>
                  <a:srgbClr val="D1D5DB"/>
                </a:solidFill>
                <a:latin typeface="Plus Jakarta Sans"/>
                <a:ea typeface="Plus Jakarta Sans"/>
                <a:cs typeface="Plus Jakarta Sans"/>
                <a:sym typeface="Plus Jakarta Sans"/>
              </a:rPr>
              <a:t> How accurately does the mathematical graph match real-world scanning measurements?</a:t>
            </a:r>
            <a:endParaRPr dirty="0"/>
          </a:p>
        </p:txBody>
      </p:sp>
      <p:sp>
        <p:nvSpPr>
          <p:cNvPr id="127" name="Google Shape;127;p16"/>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Research Questions</a:t>
            </a:r>
            <a:endParaRPr/>
          </a:p>
        </p:txBody>
      </p:sp>
      <p:sp>
        <p:nvSpPr>
          <p:cNvPr id="128" name="Google Shape;128;p16"/>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9" name="Google Shape;129;p16" descr="image.png"/>
          <p:cNvPicPr preferRelativeResize="0"/>
          <p:nvPr/>
        </p:nvPicPr>
        <p:blipFill rotWithShape="1">
          <a:blip r:embed="rId6">
            <a:alphaModFix/>
          </a:blip>
          <a:srcRect/>
          <a:stretch/>
        </p:blipFill>
        <p:spPr>
          <a:xfrm>
            <a:off x="819150" y="3391941"/>
            <a:ext cx="142875" cy="142875"/>
          </a:xfrm>
          <a:prstGeom prst="rect">
            <a:avLst/>
          </a:prstGeom>
          <a:noFill/>
          <a:ln>
            <a:noFill/>
          </a:ln>
        </p:spPr>
      </p:pic>
      <p:pic>
        <p:nvPicPr>
          <p:cNvPr id="130" name="Google Shape;130;p16" descr="image.png"/>
          <p:cNvPicPr preferRelativeResize="0"/>
          <p:nvPr/>
        </p:nvPicPr>
        <p:blipFill rotWithShape="1">
          <a:blip r:embed="rId6">
            <a:alphaModFix/>
          </a:blip>
          <a:srcRect/>
          <a:stretch/>
        </p:blipFill>
        <p:spPr>
          <a:xfrm>
            <a:off x="819150" y="3932783"/>
            <a:ext cx="142875" cy="142875"/>
          </a:xfrm>
          <a:prstGeom prst="rect">
            <a:avLst/>
          </a:prstGeom>
          <a:noFill/>
          <a:ln>
            <a:noFill/>
          </a:ln>
        </p:spPr>
      </p:pic>
      <p:pic>
        <p:nvPicPr>
          <p:cNvPr id="131" name="Google Shape;131;p16" descr="image.png"/>
          <p:cNvPicPr preferRelativeResize="0"/>
          <p:nvPr/>
        </p:nvPicPr>
        <p:blipFill rotWithShape="1">
          <a:blip r:embed="rId6">
            <a:alphaModFix/>
          </a:blip>
          <a:srcRect/>
          <a:stretch/>
        </p:blipFill>
        <p:spPr>
          <a:xfrm>
            <a:off x="6524625" y="3391941"/>
            <a:ext cx="142875" cy="142875"/>
          </a:xfrm>
          <a:prstGeom prst="rect">
            <a:avLst/>
          </a:prstGeom>
          <a:noFill/>
          <a:ln>
            <a:noFill/>
          </a:ln>
        </p:spPr>
      </p:pic>
      <p:pic>
        <p:nvPicPr>
          <p:cNvPr id="132" name="Google Shape;132;p16" descr="image.png"/>
          <p:cNvPicPr preferRelativeResize="0"/>
          <p:nvPr/>
        </p:nvPicPr>
        <p:blipFill rotWithShape="1">
          <a:blip r:embed="rId6">
            <a:alphaModFix/>
          </a:blip>
          <a:srcRect/>
          <a:stretch/>
        </p:blipFill>
        <p:spPr>
          <a:xfrm>
            <a:off x="6524625" y="3932783"/>
            <a:ext cx="142875" cy="142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6"/>
        <p:cNvGrpSpPr/>
        <p:nvPr/>
      </p:nvGrpSpPr>
      <p:grpSpPr>
        <a:xfrm>
          <a:off x="0" y="0"/>
          <a:ext cx="0" cy="0"/>
          <a:chOff x="0" y="0"/>
          <a:chExt cx="0" cy="0"/>
        </a:xfrm>
      </p:grpSpPr>
      <p:pic>
        <p:nvPicPr>
          <p:cNvPr id="2" name="Google Shape;137;p17" descr="image.png">
            <a:extLst>
              <a:ext uri="{FF2B5EF4-FFF2-40B4-BE49-F238E27FC236}">
                <a16:creationId xmlns:a16="http://schemas.microsoft.com/office/drawing/2014/main" id="{5EDB8FD0-7854-C85C-25FD-E24F8DA18045}"/>
              </a:ext>
            </a:extLst>
          </p:cNvPr>
          <p:cNvPicPr preferRelativeResize="0"/>
          <p:nvPr/>
        </p:nvPicPr>
        <p:blipFill rotWithShape="1">
          <a:blip r:embed="rId3">
            <a:alphaModFix/>
          </a:blip>
          <a:srcRect l="1789"/>
          <a:stretch>
            <a:fillRect/>
          </a:stretch>
        </p:blipFill>
        <p:spPr>
          <a:xfrm>
            <a:off x="772000" y="2686462"/>
            <a:ext cx="5324474" cy="2140180"/>
          </a:xfrm>
          <a:prstGeom prst="rect">
            <a:avLst/>
          </a:prstGeom>
          <a:noFill/>
          <a:ln>
            <a:noFill/>
          </a:ln>
        </p:spPr>
      </p:pic>
      <p:pic>
        <p:nvPicPr>
          <p:cNvPr id="137" name="Google Shape;137;p17" descr="image.png"/>
          <p:cNvPicPr preferRelativeResize="0"/>
          <p:nvPr/>
        </p:nvPicPr>
        <p:blipFill rotWithShape="1">
          <a:blip r:embed="rId3">
            <a:alphaModFix/>
          </a:blip>
          <a:srcRect l="4293"/>
          <a:stretch>
            <a:fillRect/>
          </a:stretch>
        </p:blipFill>
        <p:spPr>
          <a:xfrm>
            <a:off x="6515098" y="3206204"/>
            <a:ext cx="5095876" cy="1062632"/>
          </a:xfrm>
          <a:prstGeom prst="rect">
            <a:avLst/>
          </a:prstGeom>
          <a:noFill/>
          <a:ln>
            <a:noFill/>
          </a:ln>
        </p:spPr>
      </p:pic>
      <p:sp>
        <p:nvSpPr>
          <p:cNvPr id="138" name="Google Shape;138;p17"/>
          <p:cNvSpPr txBox="1"/>
          <p:nvPr/>
        </p:nvSpPr>
        <p:spPr>
          <a:xfrm>
            <a:off x="924400" y="2839159"/>
            <a:ext cx="5590698"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6B6D4"/>
                </a:solidFill>
                <a:latin typeface="Plus Jakarta Sans"/>
                <a:ea typeface="Plus Jakarta Sans"/>
                <a:cs typeface="Plus Jakarta Sans"/>
                <a:sym typeface="Plus Jakarta Sans"/>
              </a:rPr>
              <a:t>Graph Formula G = (V, E)</a:t>
            </a:r>
            <a:endParaRPr dirty="0"/>
          </a:p>
        </p:txBody>
      </p:sp>
      <p:sp>
        <p:nvSpPr>
          <p:cNvPr id="139" name="Google Shape;139;p17"/>
          <p:cNvSpPr txBox="1"/>
          <p:nvPr/>
        </p:nvSpPr>
        <p:spPr>
          <a:xfrm>
            <a:off x="924400" y="3220159"/>
            <a:ext cx="5324475" cy="214312"/>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9CA3AF"/>
                </a:solidFill>
                <a:latin typeface="Plus Jakarta Sans"/>
                <a:ea typeface="Plus Jakarta Sans"/>
                <a:cs typeface="Plus Jakarta Sans"/>
                <a:sym typeface="Plus Jakarta Sans"/>
              </a:rPr>
              <a:t>Environments are mapped as directed attack graphs:</a:t>
            </a:r>
            <a:endParaRPr/>
          </a:p>
        </p:txBody>
      </p:sp>
      <p:sp>
        <p:nvSpPr>
          <p:cNvPr id="140" name="Google Shape;140;p17"/>
          <p:cNvSpPr txBox="1"/>
          <p:nvPr/>
        </p:nvSpPr>
        <p:spPr>
          <a:xfrm>
            <a:off x="1153000" y="3577347"/>
            <a:ext cx="509587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Vertices (V):</a:t>
            </a:r>
            <a:r>
              <a:rPr lang="en-US" sz="1200" b="0" i="0" u="none" strike="noStrike" cap="none" dirty="0">
                <a:solidFill>
                  <a:srgbClr val="D1D5DB"/>
                </a:solidFill>
                <a:latin typeface="Plus Jakarta Sans"/>
                <a:ea typeface="Plus Jakarta Sans"/>
                <a:cs typeface="Plus Jakarta Sans"/>
                <a:sym typeface="Plus Jakarta Sans"/>
              </a:rPr>
              <a:t> Active cloud resources, databases, endpoints, and external routes.</a:t>
            </a:r>
            <a:endParaRPr dirty="0"/>
          </a:p>
        </p:txBody>
      </p:sp>
      <p:sp>
        <p:nvSpPr>
          <p:cNvPr id="141" name="Google Shape;141;p17"/>
          <p:cNvSpPr txBox="1"/>
          <p:nvPr/>
        </p:nvSpPr>
        <p:spPr>
          <a:xfrm>
            <a:off x="1153000" y="4118188"/>
            <a:ext cx="509587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Edges (E):</a:t>
            </a:r>
            <a:r>
              <a:rPr lang="en-US" sz="1200" b="0" i="0" u="none" strike="noStrike" cap="none" dirty="0">
                <a:solidFill>
                  <a:srgbClr val="D1D5DB"/>
                </a:solidFill>
                <a:latin typeface="Plus Jakarta Sans"/>
                <a:ea typeface="Plus Jakarta Sans"/>
                <a:cs typeface="Plus Jakarta Sans"/>
                <a:sym typeface="Plus Jakarta Sans"/>
              </a:rPr>
              <a:t> Connections mapped through network routing, IAM policies, and metadata access.</a:t>
            </a:r>
            <a:endParaRPr dirty="0"/>
          </a:p>
        </p:txBody>
      </p:sp>
      <p:sp>
        <p:nvSpPr>
          <p:cNvPr id="142" name="Google Shape;142;p17"/>
          <p:cNvSpPr txBox="1"/>
          <p:nvPr/>
        </p:nvSpPr>
        <p:spPr>
          <a:xfrm>
            <a:off x="7924678" y="3444329"/>
            <a:ext cx="2086216" cy="1425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dirty="0">
                <a:solidFill>
                  <a:srgbClr val="9CA3AF"/>
                </a:solidFill>
                <a:latin typeface="Plus Jakarta Sans"/>
                <a:ea typeface="Plus Jakarta Sans"/>
                <a:cs typeface="Plus Jakarta Sans"/>
                <a:sym typeface="Plus Jakarta Sans"/>
              </a:rPr>
              <a:t>QUANTITATIVE FORMULA</a:t>
            </a:r>
            <a:endParaRPr dirty="0"/>
          </a:p>
        </p:txBody>
      </p:sp>
      <p:pic>
        <p:nvPicPr>
          <p:cNvPr id="143" name="Google Shape;143;p17" descr="image.png"/>
          <p:cNvPicPr preferRelativeResize="0"/>
          <p:nvPr/>
        </p:nvPicPr>
        <p:blipFill rotWithShape="1">
          <a:blip r:embed="rId4">
            <a:alphaModFix/>
          </a:blip>
          <a:srcRect/>
          <a:stretch/>
        </p:blipFill>
        <p:spPr>
          <a:xfrm>
            <a:off x="7809904" y="3672929"/>
            <a:ext cx="2315765" cy="367307"/>
          </a:xfrm>
          <a:prstGeom prst="rect">
            <a:avLst/>
          </a:prstGeom>
          <a:noFill/>
          <a:ln>
            <a:noFill/>
          </a:ln>
        </p:spPr>
      </p:pic>
      <p:sp>
        <p:nvSpPr>
          <p:cNvPr id="144" name="Google Shape;144;p17"/>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Blast Radius Model</a:t>
            </a:r>
            <a:endParaRPr/>
          </a:p>
        </p:txBody>
      </p:sp>
      <p:sp>
        <p:nvSpPr>
          <p:cNvPr id="145" name="Google Shape;145;p17"/>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6" name="Google Shape;146;p17" descr="image.png"/>
          <p:cNvPicPr preferRelativeResize="0"/>
          <p:nvPr/>
        </p:nvPicPr>
        <p:blipFill rotWithShape="1">
          <a:blip r:embed="rId5">
            <a:alphaModFix/>
          </a:blip>
          <a:srcRect/>
          <a:stretch/>
        </p:blipFill>
        <p:spPr>
          <a:xfrm>
            <a:off x="924400" y="3596397"/>
            <a:ext cx="142875" cy="142875"/>
          </a:xfrm>
          <a:prstGeom prst="rect">
            <a:avLst/>
          </a:prstGeom>
          <a:noFill/>
          <a:ln>
            <a:noFill/>
          </a:ln>
        </p:spPr>
      </p:pic>
      <p:pic>
        <p:nvPicPr>
          <p:cNvPr id="147" name="Google Shape;147;p17" descr="image.png"/>
          <p:cNvPicPr preferRelativeResize="0"/>
          <p:nvPr/>
        </p:nvPicPr>
        <p:blipFill rotWithShape="1">
          <a:blip r:embed="rId5">
            <a:alphaModFix/>
          </a:blip>
          <a:srcRect/>
          <a:stretch/>
        </p:blipFill>
        <p:spPr>
          <a:xfrm>
            <a:off x="924400" y="4137238"/>
            <a:ext cx="142875" cy="142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1"/>
        <p:cNvGrpSpPr/>
        <p:nvPr/>
      </p:nvGrpSpPr>
      <p:grpSpPr>
        <a:xfrm>
          <a:off x="0" y="0"/>
          <a:ext cx="0" cy="0"/>
          <a:chOff x="0" y="0"/>
          <a:chExt cx="0" cy="0"/>
        </a:xfrm>
      </p:grpSpPr>
      <p:pic>
        <p:nvPicPr>
          <p:cNvPr id="2" name="Google Shape;75;p14" descr="image.png">
            <a:extLst>
              <a:ext uri="{FF2B5EF4-FFF2-40B4-BE49-F238E27FC236}">
                <a16:creationId xmlns:a16="http://schemas.microsoft.com/office/drawing/2014/main" id="{D694A3E5-0853-AEA6-09E4-7E3C4D1226BB}"/>
              </a:ext>
            </a:extLst>
          </p:cNvPr>
          <p:cNvPicPr preferRelativeResize="0"/>
          <p:nvPr/>
        </p:nvPicPr>
        <p:blipFill rotWithShape="1">
          <a:blip r:embed="rId3">
            <a:alphaModFix/>
          </a:blip>
          <a:srcRect/>
          <a:stretch/>
        </p:blipFill>
        <p:spPr>
          <a:xfrm>
            <a:off x="581025" y="2511921"/>
            <a:ext cx="5514975" cy="2451199"/>
          </a:xfrm>
          <a:prstGeom prst="rect">
            <a:avLst/>
          </a:prstGeom>
          <a:noFill/>
          <a:ln>
            <a:noFill/>
          </a:ln>
        </p:spPr>
      </p:pic>
      <p:pic>
        <p:nvPicPr>
          <p:cNvPr id="152" name="Google Shape;152;p18" descr="image.png"/>
          <p:cNvPicPr preferRelativeResize="0"/>
          <p:nvPr/>
        </p:nvPicPr>
        <p:blipFill rotWithShape="1">
          <a:blip r:embed="rId4">
            <a:alphaModFix/>
          </a:blip>
          <a:srcRect/>
          <a:stretch/>
        </p:blipFill>
        <p:spPr>
          <a:xfrm>
            <a:off x="6286500" y="1927770"/>
            <a:ext cx="5324475" cy="3619500"/>
          </a:xfrm>
          <a:prstGeom prst="rect">
            <a:avLst/>
          </a:prstGeom>
          <a:noFill/>
          <a:ln>
            <a:noFill/>
          </a:ln>
        </p:spPr>
      </p:pic>
      <p:pic>
        <p:nvPicPr>
          <p:cNvPr id="155" name="Google Shape;155;p18" descr="image.png"/>
          <p:cNvPicPr preferRelativeResize="0"/>
          <p:nvPr/>
        </p:nvPicPr>
        <p:blipFill rotWithShape="1">
          <a:blip r:embed="rId5">
            <a:alphaModFix/>
          </a:blip>
          <a:srcRect/>
          <a:stretch/>
        </p:blipFill>
        <p:spPr>
          <a:xfrm>
            <a:off x="6296025" y="1937295"/>
            <a:ext cx="5305425" cy="3600450"/>
          </a:xfrm>
          <a:prstGeom prst="rect">
            <a:avLst/>
          </a:prstGeom>
          <a:noFill/>
          <a:ln>
            <a:noFill/>
          </a:ln>
        </p:spPr>
      </p:pic>
      <p:sp>
        <p:nvSpPr>
          <p:cNvPr id="158" name="Google Shape;158;p18"/>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Automated Scanner</a:t>
            </a:r>
            <a:endParaRPr/>
          </a:p>
        </p:txBody>
      </p:sp>
      <p:sp>
        <p:nvSpPr>
          <p:cNvPr id="159" name="Google Shape;159;p18"/>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3" name="Group 2">
            <a:extLst>
              <a:ext uri="{FF2B5EF4-FFF2-40B4-BE49-F238E27FC236}">
                <a16:creationId xmlns:a16="http://schemas.microsoft.com/office/drawing/2014/main" id="{5BC54C17-CA26-31B9-9A1B-550C72DFE5F5}"/>
              </a:ext>
            </a:extLst>
          </p:cNvPr>
          <p:cNvGrpSpPr/>
          <p:nvPr/>
        </p:nvGrpSpPr>
        <p:grpSpPr>
          <a:xfrm>
            <a:off x="723900" y="2662685"/>
            <a:ext cx="5590698" cy="1919882"/>
            <a:chOff x="581025" y="2720429"/>
            <a:chExt cx="5590698" cy="1919882"/>
          </a:xfrm>
        </p:grpSpPr>
        <p:sp>
          <p:nvSpPr>
            <p:cNvPr id="153" name="Google Shape;153;p18"/>
            <p:cNvSpPr txBox="1"/>
            <p:nvPr/>
          </p:nvSpPr>
          <p:spPr>
            <a:xfrm>
              <a:off x="581025" y="2720429"/>
              <a:ext cx="5590698"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6B6D4"/>
                  </a:solidFill>
                  <a:latin typeface="Plus Jakarta Sans"/>
                  <a:ea typeface="Plus Jakarta Sans"/>
                  <a:cs typeface="Plus Jakarta Sans"/>
                  <a:sym typeface="Plus Jakarta Sans"/>
                </a:rPr>
                <a:t>Core Python Engine</a:t>
              </a:r>
              <a:endParaRPr dirty="0"/>
            </a:p>
          </p:txBody>
        </p:sp>
        <p:sp>
          <p:nvSpPr>
            <p:cNvPr id="154" name="Google Shape;154;p18"/>
            <p:cNvSpPr txBox="1"/>
            <p:nvPr/>
          </p:nvSpPr>
          <p:spPr>
            <a:xfrm>
              <a:off x="581025" y="3101429"/>
              <a:ext cx="5324475" cy="42862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dirty="0">
                  <a:solidFill>
                    <a:srgbClr val="9CA3AF"/>
                  </a:solidFill>
                  <a:latin typeface="Plus Jakarta Sans"/>
                  <a:ea typeface="Plus Jakarta Sans"/>
                  <a:cs typeface="Plus Jakarta Sans"/>
                  <a:sym typeface="Plus Jakarta Sans"/>
                </a:rPr>
                <a:t>A custom-built Python security framework that automatically performs logical analysis:</a:t>
              </a:r>
              <a:endParaRPr dirty="0"/>
            </a:p>
          </p:txBody>
        </p:sp>
        <p:sp>
          <p:nvSpPr>
            <p:cNvPr id="156" name="Google Shape;156;p18"/>
            <p:cNvSpPr txBox="1"/>
            <p:nvPr/>
          </p:nvSpPr>
          <p:spPr>
            <a:xfrm>
              <a:off x="809625" y="3672929"/>
              <a:ext cx="509587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Resource Discovery:</a:t>
              </a:r>
              <a:r>
                <a:rPr lang="en-US" sz="1200" b="0" i="0" u="none" strike="noStrike" cap="none" dirty="0">
                  <a:solidFill>
                    <a:srgbClr val="D1D5DB"/>
                  </a:solidFill>
                  <a:latin typeface="Plus Jakarta Sans"/>
                  <a:ea typeface="Plus Jakarta Sans"/>
                  <a:cs typeface="Plus Jakarta Sans"/>
                  <a:sym typeface="Plus Jakarta Sans"/>
                </a:rPr>
                <a:t> Interacts with AWS APIs using boto3 to fetch real configurations.</a:t>
              </a:r>
              <a:endParaRPr dirty="0"/>
            </a:p>
          </p:txBody>
        </p:sp>
        <p:sp>
          <p:nvSpPr>
            <p:cNvPr id="157" name="Google Shape;157;p18"/>
            <p:cNvSpPr txBox="1"/>
            <p:nvPr/>
          </p:nvSpPr>
          <p:spPr>
            <a:xfrm>
              <a:off x="809625" y="4213770"/>
              <a:ext cx="509587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Relationship Mapping:</a:t>
              </a:r>
              <a:r>
                <a:rPr lang="en-US" sz="1200" b="0" i="0" u="none" strike="noStrike" cap="none" dirty="0">
                  <a:solidFill>
                    <a:srgbClr val="D1D5DB"/>
                  </a:solidFill>
                  <a:latin typeface="Plus Jakarta Sans"/>
                  <a:ea typeface="Plus Jakarta Sans"/>
                  <a:cs typeface="Plus Jakarta Sans"/>
                  <a:sym typeface="Plus Jakarta Sans"/>
                </a:rPr>
                <a:t> Translates IAM boundaries and security groups into graph structures via </a:t>
              </a:r>
              <a:r>
                <a:rPr lang="en-US" sz="1200" b="0" i="0" u="none" strike="noStrike" cap="none" dirty="0" err="1">
                  <a:solidFill>
                    <a:srgbClr val="D1D5DB"/>
                  </a:solidFill>
                  <a:latin typeface="Plus Jakarta Sans"/>
                  <a:ea typeface="Plus Jakarta Sans"/>
                  <a:cs typeface="Plus Jakarta Sans"/>
                  <a:sym typeface="Plus Jakarta Sans"/>
                </a:rPr>
                <a:t>networkx</a:t>
              </a:r>
              <a:r>
                <a:rPr lang="en-US" sz="1200" b="0" i="0" u="none" strike="noStrike" cap="none" dirty="0">
                  <a:solidFill>
                    <a:srgbClr val="D1D5DB"/>
                  </a:solidFill>
                  <a:latin typeface="Plus Jakarta Sans"/>
                  <a:ea typeface="Plus Jakarta Sans"/>
                  <a:cs typeface="Plus Jakarta Sans"/>
                  <a:sym typeface="Plus Jakarta Sans"/>
                </a:rPr>
                <a:t>.</a:t>
              </a:r>
              <a:endParaRPr dirty="0"/>
            </a:p>
          </p:txBody>
        </p:sp>
        <p:pic>
          <p:nvPicPr>
            <p:cNvPr id="160" name="Google Shape;160;p18" descr="image.png"/>
            <p:cNvPicPr preferRelativeResize="0"/>
            <p:nvPr/>
          </p:nvPicPr>
          <p:blipFill rotWithShape="1">
            <a:blip r:embed="rId6">
              <a:alphaModFix/>
            </a:blip>
            <a:srcRect/>
            <a:stretch/>
          </p:blipFill>
          <p:spPr>
            <a:xfrm>
              <a:off x="581025" y="3691979"/>
              <a:ext cx="142875" cy="142875"/>
            </a:xfrm>
            <a:prstGeom prst="rect">
              <a:avLst/>
            </a:prstGeom>
            <a:noFill/>
            <a:ln>
              <a:noFill/>
            </a:ln>
          </p:spPr>
        </p:pic>
        <p:pic>
          <p:nvPicPr>
            <p:cNvPr id="161" name="Google Shape;161;p18" descr="image.png"/>
            <p:cNvPicPr preferRelativeResize="0"/>
            <p:nvPr/>
          </p:nvPicPr>
          <p:blipFill rotWithShape="1">
            <a:blip r:embed="rId6">
              <a:alphaModFix/>
            </a:blip>
            <a:srcRect/>
            <a:stretch/>
          </p:blipFill>
          <p:spPr>
            <a:xfrm>
              <a:off x="581025" y="4232820"/>
              <a:ext cx="142875" cy="142875"/>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
        <p:cNvGrpSpPr/>
        <p:nvPr/>
      </p:nvGrpSpPr>
      <p:grpSpPr>
        <a:xfrm>
          <a:off x="0" y="0"/>
          <a:ext cx="0" cy="0"/>
          <a:chOff x="0" y="0"/>
          <a:chExt cx="0" cy="0"/>
        </a:xfrm>
      </p:grpSpPr>
      <p:pic>
        <p:nvPicPr>
          <p:cNvPr id="187" name="Google Shape;187;p20" descr="image.png"/>
          <p:cNvPicPr preferRelativeResize="0"/>
          <p:nvPr/>
        </p:nvPicPr>
        <p:blipFill rotWithShape="1">
          <a:blip r:embed="rId3">
            <a:alphaModFix/>
          </a:blip>
          <a:srcRect/>
          <a:stretch/>
        </p:blipFill>
        <p:spPr>
          <a:xfrm>
            <a:off x="581025" y="2782341"/>
            <a:ext cx="5324475" cy="1910357"/>
          </a:xfrm>
          <a:prstGeom prst="rect">
            <a:avLst/>
          </a:prstGeom>
          <a:noFill/>
          <a:ln>
            <a:noFill/>
          </a:ln>
        </p:spPr>
      </p:pic>
      <p:pic>
        <p:nvPicPr>
          <p:cNvPr id="188" name="Google Shape;188;p20" descr="image.png"/>
          <p:cNvPicPr preferRelativeResize="0"/>
          <p:nvPr/>
        </p:nvPicPr>
        <p:blipFill rotWithShape="1">
          <a:blip r:embed="rId3">
            <a:alphaModFix/>
          </a:blip>
          <a:srcRect/>
          <a:stretch/>
        </p:blipFill>
        <p:spPr>
          <a:xfrm>
            <a:off x="6286500" y="2782341"/>
            <a:ext cx="5324475" cy="1910357"/>
          </a:xfrm>
          <a:prstGeom prst="rect">
            <a:avLst/>
          </a:prstGeom>
          <a:noFill/>
          <a:ln>
            <a:noFill/>
          </a:ln>
        </p:spPr>
      </p:pic>
      <p:sp>
        <p:nvSpPr>
          <p:cNvPr id="189" name="Google Shape;189;p20"/>
          <p:cNvSpPr txBox="1"/>
          <p:nvPr/>
        </p:nvSpPr>
        <p:spPr>
          <a:xfrm>
            <a:off x="1085850" y="3020466"/>
            <a:ext cx="4810601"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Primary Controls</a:t>
            </a:r>
            <a:endParaRPr/>
          </a:p>
        </p:txBody>
      </p:sp>
      <p:sp>
        <p:nvSpPr>
          <p:cNvPr id="190" name="Google Shape;190;p20"/>
          <p:cNvSpPr txBox="1"/>
          <p:nvPr/>
        </p:nvSpPr>
        <p:spPr>
          <a:xfrm>
            <a:off x="6772275" y="3020466"/>
            <a:ext cx="4830603"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Secondary Controls</a:t>
            </a:r>
            <a:endParaRPr/>
          </a:p>
        </p:txBody>
      </p:sp>
      <p:pic>
        <p:nvPicPr>
          <p:cNvPr id="191" name="Google Shape;191;p20" descr="image.png"/>
          <p:cNvPicPr preferRelativeResize="0"/>
          <p:nvPr/>
        </p:nvPicPr>
        <p:blipFill rotWithShape="1">
          <a:blip r:embed="rId4">
            <a:alphaModFix/>
          </a:blip>
          <a:srcRect/>
          <a:stretch/>
        </p:blipFill>
        <p:spPr>
          <a:xfrm>
            <a:off x="819150" y="3053804"/>
            <a:ext cx="171450" cy="171450"/>
          </a:xfrm>
          <a:prstGeom prst="rect">
            <a:avLst/>
          </a:prstGeom>
          <a:noFill/>
          <a:ln>
            <a:noFill/>
          </a:ln>
        </p:spPr>
      </p:pic>
      <p:sp>
        <p:nvSpPr>
          <p:cNvPr id="192" name="Google Shape;192;p20"/>
          <p:cNvSpPr txBox="1"/>
          <p:nvPr/>
        </p:nvSpPr>
        <p:spPr>
          <a:xfrm>
            <a:off x="1047750" y="3372891"/>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IMDSv2 Enforcement:</a:t>
            </a:r>
            <a:r>
              <a:rPr lang="en-US" sz="1200" b="0" i="0" u="none" strike="noStrike" cap="none" dirty="0">
                <a:solidFill>
                  <a:srgbClr val="D1D5DB"/>
                </a:solidFill>
                <a:latin typeface="Plus Jakarta Sans"/>
                <a:ea typeface="Plus Jakarta Sans"/>
                <a:cs typeface="Plus Jakarta Sans"/>
                <a:sym typeface="Plus Jakarta Sans"/>
              </a:rPr>
              <a:t> Limits session token theft to protect compute identity credentials.</a:t>
            </a:r>
            <a:endParaRPr dirty="0"/>
          </a:p>
        </p:txBody>
      </p:sp>
      <p:sp>
        <p:nvSpPr>
          <p:cNvPr id="193" name="Google Shape;193;p20"/>
          <p:cNvSpPr txBox="1"/>
          <p:nvPr/>
        </p:nvSpPr>
        <p:spPr>
          <a:xfrm>
            <a:off x="1047750" y="3913733"/>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Database Firewalls:</a:t>
            </a:r>
            <a:r>
              <a:rPr lang="en-US" sz="1200" b="0" i="0" u="none" strike="noStrike" cap="none" dirty="0">
                <a:solidFill>
                  <a:srgbClr val="D1D5DB"/>
                </a:solidFill>
                <a:latin typeface="Plus Jakarta Sans"/>
                <a:ea typeface="Plus Jakarta Sans"/>
                <a:cs typeface="Plus Jakarta Sans"/>
                <a:sym typeface="Plus Jakarta Sans"/>
              </a:rPr>
              <a:t> Isolates persistent data systems to dedicated backend subnets.</a:t>
            </a:r>
            <a:endParaRPr dirty="0"/>
          </a:p>
        </p:txBody>
      </p:sp>
      <p:pic>
        <p:nvPicPr>
          <p:cNvPr id="194" name="Google Shape;194;p20" descr="image.png"/>
          <p:cNvPicPr preferRelativeResize="0"/>
          <p:nvPr/>
        </p:nvPicPr>
        <p:blipFill rotWithShape="1">
          <a:blip r:embed="rId5">
            <a:alphaModFix/>
          </a:blip>
          <a:srcRect/>
          <a:stretch/>
        </p:blipFill>
        <p:spPr>
          <a:xfrm>
            <a:off x="6524625" y="3053804"/>
            <a:ext cx="152400" cy="171450"/>
          </a:xfrm>
          <a:prstGeom prst="rect">
            <a:avLst/>
          </a:prstGeom>
          <a:noFill/>
          <a:ln>
            <a:noFill/>
          </a:ln>
        </p:spPr>
      </p:pic>
      <p:sp>
        <p:nvSpPr>
          <p:cNvPr id="195" name="Google Shape;195;p20"/>
          <p:cNvSpPr txBox="1"/>
          <p:nvPr/>
        </p:nvSpPr>
        <p:spPr>
          <a:xfrm>
            <a:off x="6753225" y="3372891"/>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Egress Restrictions:</a:t>
            </a:r>
            <a:r>
              <a:rPr lang="en-US" sz="1200" b="0" i="0" u="none" strike="noStrike" cap="none" dirty="0">
                <a:solidFill>
                  <a:srgbClr val="D1D5DB"/>
                </a:solidFill>
                <a:latin typeface="Plus Jakarta Sans"/>
                <a:ea typeface="Plus Jakarta Sans"/>
                <a:cs typeface="Plus Jakarta Sans"/>
                <a:sym typeface="Plus Jakarta Sans"/>
              </a:rPr>
              <a:t> Blocks direct routes to non-business public internet space.</a:t>
            </a:r>
            <a:endParaRPr dirty="0"/>
          </a:p>
        </p:txBody>
      </p:sp>
      <p:sp>
        <p:nvSpPr>
          <p:cNvPr id="196" name="Google Shape;196;p20"/>
          <p:cNvSpPr txBox="1"/>
          <p:nvPr/>
        </p:nvSpPr>
        <p:spPr>
          <a:xfrm>
            <a:off x="6753225" y="3913733"/>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dirty="0">
                <a:solidFill>
                  <a:srgbClr val="D1D5DB"/>
                </a:solidFill>
                <a:latin typeface="Plus Jakarta Sans"/>
                <a:ea typeface="Plus Jakarta Sans"/>
                <a:cs typeface="Plus Jakarta Sans"/>
                <a:sym typeface="Plus Jakarta Sans"/>
              </a:rPr>
              <a:t>VPC Endpoint Policies:</a:t>
            </a:r>
            <a:r>
              <a:rPr lang="en-US" sz="1200" b="0" i="0" u="none" strike="noStrike" cap="none" dirty="0">
                <a:solidFill>
                  <a:srgbClr val="D1D5DB"/>
                </a:solidFill>
                <a:latin typeface="Plus Jakarta Sans"/>
                <a:ea typeface="Plus Jakarta Sans"/>
                <a:cs typeface="Plus Jakarta Sans"/>
                <a:sym typeface="Plus Jakarta Sans"/>
              </a:rPr>
              <a:t> Scopes API calls to narrow, approved resources.</a:t>
            </a:r>
            <a:endParaRPr dirty="0"/>
          </a:p>
        </p:txBody>
      </p:sp>
      <p:sp>
        <p:nvSpPr>
          <p:cNvPr id="197" name="Google Shape;197;p20"/>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Security Controls</a:t>
            </a:r>
            <a:endParaRPr/>
          </a:p>
        </p:txBody>
      </p:sp>
      <p:sp>
        <p:nvSpPr>
          <p:cNvPr id="198" name="Google Shape;198;p20"/>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9" name="Google Shape;199;p20" descr="image.png"/>
          <p:cNvPicPr preferRelativeResize="0"/>
          <p:nvPr/>
        </p:nvPicPr>
        <p:blipFill rotWithShape="1">
          <a:blip r:embed="rId6">
            <a:alphaModFix/>
          </a:blip>
          <a:srcRect/>
          <a:stretch/>
        </p:blipFill>
        <p:spPr>
          <a:xfrm>
            <a:off x="819150" y="3391941"/>
            <a:ext cx="142875" cy="142875"/>
          </a:xfrm>
          <a:prstGeom prst="rect">
            <a:avLst/>
          </a:prstGeom>
          <a:noFill/>
          <a:ln>
            <a:noFill/>
          </a:ln>
        </p:spPr>
      </p:pic>
      <p:pic>
        <p:nvPicPr>
          <p:cNvPr id="200" name="Google Shape;200;p20" descr="image.png"/>
          <p:cNvPicPr preferRelativeResize="0"/>
          <p:nvPr/>
        </p:nvPicPr>
        <p:blipFill rotWithShape="1">
          <a:blip r:embed="rId6">
            <a:alphaModFix/>
          </a:blip>
          <a:srcRect/>
          <a:stretch/>
        </p:blipFill>
        <p:spPr>
          <a:xfrm>
            <a:off x="819150" y="3932783"/>
            <a:ext cx="142875" cy="142875"/>
          </a:xfrm>
          <a:prstGeom prst="rect">
            <a:avLst/>
          </a:prstGeom>
          <a:noFill/>
          <a:ln>
            <a:noFill/>
          </a:ln>
        </p:spPr>
      </p:pic>
      <p:pic>
        <p:nvPicPr>
          <p:cNvPr id="201" name="Google Shape;201;p20" descr="image.png"/>
          <p:cNvPicPr preferRelativeResize="0"/>
          <p:nvPr/>
        </p:nvPicPr>
        <p:blipFill rotWithShape="1">
          <a:blip r:embed="rId6">
            <a:alphaModFix/>
          </a:blip>
          <a:srcRect/>
          <a:stretch/>
        </p:blipFill>
        <p:spPr>
          <a:xfrm>
            <a:off x="6524625" y="3391941"/>
            <a:ext cx="142875" cy="142875"/>
          </a:xfrm>
          <a:prstGeom prst="rect">
            <a:avLst/>
          </a:prstGeom>
          <a:noFill/>
          <a:ln>
            <a:noFill/>
          </a:ln>
        </p:spPr>
      </p:pic>
      <p:pic>
        <p:nvPicPr>
          <p:cNvPr id="202" name="Google Shape;202;p20" descr="image.png"/>
          <p:cNvPicPr preferRelativeResize="0"/>
          <p:nvPr/>
        </p:nvPicPr>
        <p:blipFill rotWithShape="1">
          <a:blip r:embed="rId6">
            <a:alphaModFix/>
          </a:blip>
          <a:srcRect/>
          <a:stretch/>
        </p:blipFill>
        <p:spPr>
          <a:xfrm>
            <a:off x="6524625" y="3932783"/>
            <a:ext cx="142875" cy="142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pic>
        <p:nvPicPr>
          <p:cNvPr id="207" name="Google Shape;207;p21" descr="image.png"/>
          <p:cNvPicPr preferRelativeResize="0"/>
          <p:nvPr/>
        </p:nvPicPr>
        <p:blipFill rotWithShape="1">
          <a:blip r:embed="rId3">
            <a:alphaModFix/>
          </a:blip>
          <a:srcRect/>
          <a:stretch/>
        </p:blipFill>
        <p:spPr>
          <a:xfrm>
            <a:off x="581025" y="2692151"/>
            <a:ext cx="5324475" cy="1543050"/>
          </a:xfrm>
          <a:prstGeom prst="rect">
            <a:avLst/>
          </a:prstGeom>
          <a:noFill/>
          <a:ln>
            <a:noFill/>
          </a:ln>
        </p:spPr>
      </p:pic>
      <p:pic>
        <p:nvPicPr>
          <p:cNvPr id="208" name="Google Shape;208;p21" descr="image.png"/>
          <p:cNvPicPr preferRelativeResize="0"/>
          <p:nvPr/>
        </p:nvPicPr>
        <p:blipFill rotWithShape="1">
          <a:blip r:embed="rId3">
            <a:alphaModFix/>
          </a:blip>
          <a:srcRect/>
          <a:stretch/>
        </p:blipFill>
        <p:spPr>
          <a:xfrm>
            <a:off x="6286500" y="2692151"/>
            <a:ext cx="5324475" cy="1543050"/>
          </a:xfrm>
          <a:prstGeom prst="rect">
            <a:avLst/>
          </a:prstGeom>
          <a:noFill/>
          <a:ln>
            <a:noFill/>
          </a:ln>
        </p:spPr>
      </p:pic>
      <p:sp>
        <p:nvSpPr>
          <p:cNvPr id="211" name="Google Shape;211;p21"/>
          <p:cNvSpPr txBox="1"/>
          <p:nvPr/>
        </p:nvSpPr>
        <p:spPr>
          <a:xfrm>
            <a:off x="1047750" y="2930276"/>
            <a:ext cx="4850606"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Mathematical Prediction</a:t>
            </a:r>
            <a:endParaRPr/>
          </a:p>
        </p:txBody>
      </p:sp>
      <p:sp>
        <p:nvSpPr>
          <p:cNvPr id="212" name="Google Shape;212;p21"/>
          <p:cNvSpPr txBox="1"/>
          <p:nvPr/>
        </p:nvSpPr>
        <p:spPr>
          <a:xfrm>
            <a:off x="819150" y="3425576"/>
            <a:ext cx="4848225" cy="42862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dirty="0">
                <a:solidFill>
                  <a:srgbClr val="D1D5DB"/>
                </a:solidFill>
                <a:latin typeface="Plus Jakarta Sans"/>
                <a:ea typeface="Plus Jakarta Sans"/>
                <a:cs typeface="Plus Jakarta Sans"/>
                <a:sym typeface="Plus Jakarta Sans"/>
              </a:rPr>
              <a:t>Calculates the logical attack path theoretically using graph-theoretic reachability formulas on configuration structures.</a:t>
            </a:r>
            <a:endParaRPr dirty="0"/>
          </a:p>
        </p:txBody>
      </p:sp>
      <p:sp>
        <p:nvSpPr>
          <p:cNvPr id="213" name="Google Shape;213;p21"/>
          <p:cNvSpPr txBox="1"/>
          <p:nvPr/>
        </p:nvSpPr>
        <p:spPr>
          <a:xfrm>
            <a:off x="6791325" y="2930276"/>
            <a:ext cx="4810601"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Measured Scanning</a:t>
            </a:r>
            <a:endParaRPr/>
          </a:p>
        </p:txBody>
      </p:sp>
      <p:sp>
        <p:nvSpPr>
          <p:cNvPr id="214" name="Google Shape;214;p21"/>
          <p:cNvSpPr txBox="1"/>
          <p:nvPr/>
        </p:nvSpPr>
        <p:spPr>
          <a:xfrm>
            <a:off x="6524625" y="3425576"/>
            <a:ext cx="4848225" cy="428625"/>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dirty="0">
                <a:solidFill>
                  <a:srgbClr val="D1D5DB"/>
                </a:solidFill>
                <a:latin typeface="Plus Jakarta Sans"/>
                <a:ea typeface="Plus Jakarta Sans"/>
                <a:cs typeface="Plus Jakarta Sans"/>
                <a:sym typeface="Plus Jakarta Sans"/>
              </a:rPr>
              <a:t>Discovers active network links, security rules, and real runtime permissions using the custom Python discovery engine.</a:t>
            </a:r>
            <a:endParaRPr dirty="0"/>
          </a:p>
        </p:txBody>
      </p:sp>
      <p:pic>
        <p:nvPicPr>
          <p:cNvPr id="215" name="Google Shape;215;p21" descr="image.png"/>
          <p:cNvPicPr preferRelativeResize="0"/>
          <p:nvPr/>
        </p:nvPicPr>
        <p:blipFill rotWithShape="1">
          <a:blip r:embed="rId4">
            <a:alphaModFix/>
          </a:blip>
          <a:srcRect/>
          <a:stretch/>
        </p:blipFill>
        <p:spPr>
          <a:xfrm>
            <a:off x="819150" y="2963614"/>
            <a:ext cx="133350" cy="171450"/>
          </a:xfrm>
          <a:prstGeom prst="rect">
            <a:avLst/>
          </a:prstGeom>
          <a:noFill/>
          <a:ln>
            <a:noFill/>
          </a:ln>
        </p:spPr>
      </p:pic>
      <p:pic>
        <p:nvPicPr>
          <p:cNvPr id="216" name="Google Shape;216;p21" descr="image.png"/>
          <p:cNvPicPr preferRelativeResize="0"/>
          <p:nvPr/>
        </p:nvPicPr>
        <p:blipFill rotWithShape="1">
          <a:blip r:embed="rId5">
            <a:alphaModFix/>
          </a:blip>
          <a:srcRect/>
          <a:stretch/>
        </p:blipFill>
        <p:spPr>
          <a:xfrm>
            <a:off x="6524625" y="2963614"/>
            <a:ext cx="171450" cy="171450"/>
          </a:xfrm>
          <a:prstGeom prst="rect">
            <a:avLst/>
          </a:prstGeom>
          <a:noFill/>
          <a:ln>
            <a:noFill/>
          </a:ln>
        </p:spPr>
      </p:pic>
      <p:sp>
        <p:nvSpPr>
          <p:cNvPr id="217" name="Google Shape;217;p21"/>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Dual Validation</a:t>
            </a:r>
            <a:endParaRPr/>
          </a:p>
        </p:txBody>
      </p:sp>
      <p:sp>
        <p:nvSpPr>
          <p:cNvPr id="218" name="Google Shape;218;p21"/>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2"/>
        <p:cNvGrpSpPr/>
        <p:nvPr/>
      </p:nvGrpSpPr>
      <p:grpSpPr>
        <a:xfrm>
          <a:off x="0" y="0"/>
          <a:ext cx="0" cy="0"/>
          <a:chOff x="0" y="0"/>
          <a:chExt cx="0" cy="0"/>
        </a:xfrm>
      </p:grpSpPr>
      <p:pic>
        <p:nvPicPr>
          <p:cNvPr id="223" name="Google Shape;223;p22" descr="image.png"/>
          <p:cNvPicPr preferRelativeResize="0"/>
          <p:nvPr/>
        </p:nvPicPr>
        <p:blipFill rotWithShape="1">
          <a:blip r:embed="rId3">
            <a:alphaModFix/>
          </a:blip>
          <a:srcRect/>
          <a:stretch/>
        </p:blipFill>
        <p:spPr>
          <a:xfrm>
            <a:off x="581025" y="2577554"/>
            <a:ext cx="5324475" cy="2319932"/>
          </a:xfrm>
          <a:prstGeom prst="rect">
            <a:avLst/>
          </a:prstGeom>
          <a:noFill/>
          <a:ln>
            <a:noFill/>
          </a:ln>
        </p:spPr>
      </p:pic>
      <p:pic>
        <p:nvPicPr>
          <p:cNvPr id="224" name="Google Shape;224;p22" descr="image.png"/>
          <p:cNvPicPr preferRelativeResize="0"/>
          <p:nvPr/>
        </p:nvPicPr>
        <p:blipFill rotWithShape="1">
          <a:blip r:embed="rId4">
            <a:alphaModFix/>
          </a:blip>
          <a:srcRect/>
          <a:stretch/>
        </p:blipFill>
        <p:spPr>
          <a:xfrm>
            <a:off x="6286500" y="2577554"/>
            <a:ext cx="5324475" cy="2319932"/>
          </a:xfrm>
          <a:prstGeom prst="rect">
            <a:avLst/>
          </a:prstGeom>
          <a:noFill/>
          <a:ln>
            <a:noFill/>
          </a:ln>
        </p:spPr>
      </p:pic>
      <p:sp>
        <p:nvSpPr>
          <p:cNvPr id="225" name="Google Shape;225;p22"/>
          <p:cNvSpPr txBox="1"/>
          <p:nvPr/>
        </p:nvSpPr>
        <p:spPr>
          <a:xfrm>
            <a:off x="1047750" y="2815679"/>
            <a:ext cx="4850606"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WordPress Architecture</a:t>
            </a:r>
            <a:endParaRPr/>
          </a:p>
        </p:txBody>
      </p:sp>
      <p:sp>
        <p:nvSpPr>
          <p:cNvPr id="226" name="Google Shape;226;p22"/>
          <p:cNvSpPr txBox="1"/>
          <p:nvPr/>
        </p:nvSpPr>
        <p:spPr>
          <a:xfrm>
            <a:off x="819150" y="3301454"/>
            <a:ext cx="4848225"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06B6D4"/>
                </a:solidFill>
                <a:latin typeface="Plus Jakarta Sans"/>
                <a:ea typeface="Plus Jakarta Sans"/>
                <a:cs typeface="Plus Jakarta Sans"/>
                <a:sym typeface="Plus Jakarta Sans"/>
              </a:rPr>
              <a:t>Traditional EC2 + RDS + S3 Stack</a:t>
            </a:r>
            <a:endParaRPr/>
          </a:p>
        </p:txBody>
      </p:sp>
      <p:sp>
        <p:nvSpPr>
          <p:cNvPr id="227" name="Google Shape;227;p22"/>
          <p:cNvSpPr txBox="1"/>
          <p:nvPr/>
        </p:nvSpPr>
        <p:spPr>
          <a:xfrm>
            <a:off x="6772275" y="2815679"/>
            <a:ext cx="4830603"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Article Generator</a:t>
            </a:r>
            <a:endParaRPr/>
          </a:p>
        </p:txBody>
      </p:sp>
      <p:sp>
        <p:nvSpPr>
          <p:cNvPr id="228" name="Google Shape;228;p22"/>
          <p:cNvSpPr txBox="1"/>
          <p:nvPr/>
        </p:nvSpPr>
        <p:spPr>
          <a:xfrm>
            <a:off x="6524625" y="3301454"/>
            <a:ext cx="4848225" cy="2000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06B6D4"/>
                </a:solidFill>
                <a:latin typeface="Plus Jakarta Sans"/>
                <a:ea typeface="Plus Jakarta Sans"/>
                <a:cs typeface="Plus Jakarta Sans"/>
                <a:sym typeface="Plus Jakarta Sans"/>
              </a:rPr>
              <a:t>Serverless Lambda + DynamoDB Stack</a:t>
            </a:r>
            <a:endParaRPr/>
          </a:p>
        </p:txBody>
      </p:sp>
      <p:pic>
        <p:nvPicPr>
          <p:cNvPr id="229" name="Google Shape;229;p22" descr="image.png"/>
          <p:cNvPicPr preferRelativeResize="0"/>
          <p:nvPr/>
        </p:nvPicPr>
        <p:blipFill rotWithShape="1">
          <a:blip r:embed="rId5">
            <a:alphaModFix/>
          </a:blip>
          <a:srcRect/>
          <a:stretch/>
        </p:blipFill>
        <p:spPr>
          <a:xfrm>
            <a:off x="819150" y="2849016"/>
            <a:ext cx="133350" cy="171450"/>
          </a:xfrm>
          <a:prstGeom prst="rect">
            <a:avLst/>
          </a:prstGeom>
          <a:noFill/>
          <a:ln>
            <a:noFill/>
          </a:ln>
        </p:spPr>
      </p:pic>
      <p:sp>
        <p:nvSpPr>
          <p:cNvPr id="230" name="Google Shape;230;p22"/>
          <p:cNvSpPr txBox="1"/>
          <p:nvPr/>
        </p:nvSpPr>
        <p:spPr>
          <a:xfrm>
            <a:off x="1047750" y="3577679"/>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a:solidFill>
                  <a:srgbClr val="D1D5DB"/>
                </a:solidFill>
                <a:latin typeface="Plus Jakarta Sans"/>
                <a:ea typeface="Plus Jakarta Sans"/>
                <a:cs typeface="Plus Jakarta Sans"/>
                <a:sym typeface="Plus Jakarta Sans"/>
              </a:rPr>
              <a:t>Security Model:</a:t>
            </a:r>
            <a:r>
              <a:rPr lang="en-US" sz="1200" b="0" i="0" u="none" strike="noStrike" cap="none">
                <a:solidFill>
                  <a:srgbClr val="D1D5DB"/>
                </a:solidFill>
                <a:latin typeface="Plus Jakarta Sans"/>
                <a:ea typeface="Plus Jakarta Sans"/>
                <a:cs typeface="Plus Jakarta Sans"/>
                <a:sym typeface="Plus Jakarta Sans"/>
              </a:rPr>
              <a:t> Highly network-centric (VPC subnets, security groups).</a:t>
            </a:r>
            <a:endParaRPr/>
          </a:p>
        </p:txBody>
      </p:sp>
      <p:sp>
        <p:nvSpPr>
          <p:cNvPr id="231" name="Google Shape;231;p22"/>
          <p:cNvSpPr txBox="1"/>
          <p:nvPr/>
        </p:nvSpPr>
        <p:spPr>
          <a:xfrm>
            <a:off x="1047750" y="4118520"/>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a:solidFill>
                  <a:srgbClr val="D1D5DB"/>
                </a:solidFill>
                <a:latin typeface="Plus Jakarta Sans"/>
                <a:ea typeface="Plus Jakarta Sans"/>
                <a:cs typeface="Plus Jakarta Sans"/>
                <a:sym typeface="Plus Jakarta Sans"/>
              </a:rPr>
              <a:t>Relevance:</a:t>
            </a:r>
            <a:r>
              <a:rPr lang="en-US" sz="1200" b="0" i="0" u="none" strike="noStrike" cap="none">
                <a:solidFill>
                  <a:srgbClr val="D1D5DB"/>
                </a:solidFill>
                <a:latin typeface="Plus Jakarta Sans"/>
                <a:ea typeface="Plus Jakarta Sans"/>
                <a:cs typeface="Plus Jakarta Sans"/>
                <a:sym typeface="Plus Jakarta Sans"/>
              </a:rPr>
              <a:t> Represents legacy VM deployments running public web applications.</a:t>
            </a:r>
            <a:endParaRPr/>
          </a:p>
        </p:txBody>
      </p:sp>
      <p:pic>
        <p:nvPicPr>
          <p:cNvPr id="232" name="Google Shape;232;p22" descr="image.png"/>
          <p:cNvPicPr preferRelativeResize="0"/>
          <p:nvPr/>
        </p:nvPicPr>
        <p:blipFill rotWithShape="1">
          <a:blip r:embed="rId6">
            <a:alphaModFix/>
          </a:blip>
          <a:srcRect/>
          <a:stretch/>
        </p:blipFill>
        <p:spPr>
          <a:xfrm>
            <a:off x="6524625" y="2849016"/>
            <a:ext cx="152400" cy="171450"/>
          </a:xfrm>
          <a:prstGeom prst="rect">
            <a:avLst/>
          </a:prstGeom>
          <a:noFill/>
          <a:ln>
            <a:noFill/>
          </a:ln>
        </p:spPr>
      </p:pic>
      <p:sp>
        <p:nvSpPr>
          <p:cNvPr id="233" name="Google Shape;233;p22"/>
          <p:cNvSpPr txBox="1"/>
          <p:nvPr/>
        </p:nvSpPr>
        <p:spPr>
          <a:xfrm>
            <a:off x="6753225" y="3577679"/>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a:solidFill>
                  <a:srgbClr val="D1D5DB"/>
                </a:solidFill>
                <a:latin typeface="Plus Jakarta Sans"/>
                <a:ea typeface="Plus Jakarta Sans"/>
                <a:cs typeface="Plus Jakarta Sans"/>
                <a:sym typeface="Plus Jakarta Sans"/>
              </a:rPr>
              <a:t>Security Model:</a:t>
            </a:r>
            <a:r>
              <a:rPr lang="en-US" sz="1200" b="0" i="0" u="none" strike="noStrike" cap="none">
                <a:solidFill>
                  <a:srgbClr val="D1D5DB"/>
                </a:solidFill>
                <a:latin typeface="Plus Jakarta Sans"/>
                <a:ea typeface="Plus Jakarta Sans"/>
                <a:cs typeface="Plus Jakarta Sans"/>
                <a:sym typeface="Plus Jakarta Sans"/>
              </a:rPr>
              <a:t> Highly identity-centric (IAM roles, service trust boundaries).</a:t>
            </a:r>
            <a:endParaRPr/>
          </a:p>
        </p:txBody>
      </p:sp>
      <p:sp>
        <p:nvSpPr>
          <p:cNvPr id="234" name="Google Shape;234;p22"/>
          <p:cNvSpPr txBox="1"/>
          <p:nvPr/>
        </p:nvSpPr>
        <p:spPr>
          <a:xfrm>
            <a:off x="6753225" y="4118520"/>
            <a:ext cx="4619625" cy="4265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200" b="1" i="0" u="none" strike="noStrike" cap="none">
                <a:solidFill>
                  <a:srgbClr val="D1D5DB"/>
                </a:solidFill>
                <a:latin typeface="Plus Jakarta Sans"/>
                <a:ea typeface="Plus Jakarta Sans"/>
                <a:cs typeface="Plus Jakarta Sans"/>
                <a:sym typeface="Plus Jakarta Sans"/>
              </a:rPr>
              <a:t>Relevance:</a:t>
            </a:r>
            <a:r>
              <a:rPr lang="en-US" sz="1200" b="0" i="0" u="none" strike="noStrike" cap="none">
                <a:solidFill>
                  <a:srgbClr val="D1D5DB"/>
                </a:solidFill>
                <a:latin typeface="Plus Jakarta Sans"/>
                <a:ea typeface="Plus Jakarta Sans"/>
                <a:cs typeface="Plus Jakarta Sans"/>
                <a:sym typeface="Plus Jakarta Sans"/>
              </a:rPr>
              <a:t> Represents modern, microservice-driven, zero-trust workloads.</a:t>
            </a:r>
            <a:endParaRPr/>
          </a:p>
        </p:txBody>
      </p:sp>
      <p:sp>
        <p:nvSpPr>
          <p:cNvPr id="235" name="Google Shape;235;p22"/>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Workload Case Studies</a:t>
            </a:r>
            <a:endParaRPr/>
          </a:p>
        </p:txBody>
      </p:sp>
      <p:sp>
        <p:nvSpPr>
          <p:cNvPr id="236" name="Google Shape;236;p22"/>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7" name="Google Shape;237;p22" descr="image.png"/>
          <p:cNvPicPr preferRelativeResize="0"/>
          <p:nvPr/>
        </p:nvPicPr>
        <p:blipFill rotWithShape="1">
          <a:blip r:embed="rId7">
            <a:alphaModFix/>
          </a:blip>
          <a:srcRect/>
          <a:stretch/>
        </p:blipFill>
        <p:spPr>
          <a:xfrm>
            <a:off x="819150" y="3596729"/>
            <a:ext cx="142875" cy="142875"/>
          </a:xfrm>
          <a:prstGeom prst="rect">
            <a:avLst/>
          </a:prstGeom>
          <a:noFill/>
          <a:ln>
            <a:noFill/>
          </a:ln>
        </p:spPr>
      </p:pic>
      <p:pic>
        <p:nvPicPr>
          <p:cNvPr id="238" name="Google Shape;238;p22" descr="image.png"/>
          <p:cNvPicPr preferRelativeResize="0"/>
          <p:nvPr/>
        </p:nvPicPr>
        <p:blipFill rotWithShape="1">
          <a:blip r:embed="rId7">
            <a:alphaModFix/>
          </a:blip>
          <a:srcRect/>
          <a:stretch/>
        </p:blipFill>
        <p:spPr>
          <a:xfrm>
            <a:off x="819150" y="4137570"/>
            <a:ext cx="142875" cy="142875"/>
          </a:xfrm>
          <a:prstGeom prst="rect">
            <a:avLst/>
          </a:prstGeom>
          <a:noFill/>
          <a:ln>
            <a:noFill/>
          </a:ln>
        </p:spPr>
      </p:pic>
      <p:pic>
        <p:nvPicPr>
          <p:cNvPr id="239" name="Google Shape;239;p22" descr="image.png"/>
          <p:cNvPicPr preferRelativeResize="0"/>
          <p:nvPr/>
        </p:nvPicPr>
        <p:blipFill rotWithShape="1">
          <a:blip r:embed="rId7">
            <a:alphaModFix/>
          </a:blip>
          <a:srcRect/>
          <a:stretch/>
        </p:blipFill>
        <p:spPr>
          <a:xfrm>
            <a:off x="6524625" y="3596729"/>
            <a:ext cx="142875" cy="142875"/>
          </a:xfrm>
          <a:prstGeom prst="rect">
            <a:avLst/>
          </a:prstGeom>
          <a:noFill/>
          <a:ln>
            <a:noFill/>
          </a:ln>
        </p:spPr>
      </p:pic>
      <p:pic>
        <p:nvPicPr>
          <p:cNvPr id="240" name="Google Shape;240;p22" descr="image.png"/>
          <p:cNvPicPr preferRelativeResize="0"/>
          <p:nvPr/>
        </p:nvPicPr>
        <p:blipFill rotWithShape="1">
          <a:blip r:embed="rId7">
            <a:alphaModFix/>
          </a:blip>
          <a:srcRect/>
          <a:stretch/>
        </p:blipFill>
        <p:spPr>
          <a:xfrm>
            <a:off x="6524625" y="4137570"/>
            <a:ext cx="142875" cy="142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pic>
        <p:nvPicPr>
          <p:cNvPr id="245" name="Google Shape;245;p23" descr="image.png"/>
          <p:cNvPicPr preferRelativeResize="0"/>
          <p:nvPr/>
        </p:nvPicPr>
        <p:blipFill rotWithShape="1">
          <a:blip r:embed="rId3">
            <a:alphaModFix/>
          </a:blip>
          <a:srcRect/>
          <a:stretch/>
        </p:blipFill>
        <p:spPr>
          <a:xfrm>
            <a:off x="581025" y="3747045"/>
            <a:ext cx="11029950" cy="1247775"/>
          </a:xfrm>
          <a:prstGeom prst="rect">
            <a:avLst/>
          </a:prstGeom>
          <a:noFill/>
          <a:ln>
            <a:noFill/>
          </a:ln>
        </p:spPr>
      </p:pic>
      <p:sp>
        <p:nvSpPr>
          <p:cNvPr id="246" name="Google Shape;246;p23"/>
          <p:cNvSpPr/>
          <p:nvPr/>
        </p:nvSpPr>
        <p:spPr>
          <a:xfrm>
            <a:off x="581025" y="2956470"/>
            <a:ext cx="11029950" cy="38100"/>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47" name="Google Shape;247;p23"/>
          <p:cNvGraphicFramePr/>
          <p:nvPr>
            <p:extLst>
              <p:ext uri="{D42A27DB-BD31-4B8C-83A1-F6EECF244321}">
                <p14:modId xmlns:p14="http://schemas.microsoft.com/office/powerpoint/2010/main" val="1898757680"/>
              </p:ext>
            </p:extLst>
          </p:nvPr>
        </p:nvGraphicFramePr>
        <p:xfrm>
          <a:off x="590550" y="3756570"/>
          <a:ext cx="11010900" cy="1228725"/>
        </p:xfrm>
        <a:graphic>
          <a:graphicData uri="http://schemas.openxmlformats.org/drawingml/2006/table">
            <a:tbl>
              <a:tblPr firstRow="1" bandRow="1">
                <a:noFill/>
                <a:tableStyleId>{A66B5C6D-F056-4A6B-934D-435CDD8ED7CD}</a:tableStyleId>
              </a:tblPr>
              <a:tblGrid>
                <a:gridCol w="3853750">
                  <a:extLst>
                    <a:ext uri="{9D8B030D-6E8A-4147-A177-3AD203B41FA5}">
                      <a16:colId xmlns:a16="http://schemas.microsoft.com/office/drawing/2014/main" val="20000"/>
                    </a:ext>
                  </a:extLst>
                </a:gridCol>
                <a:gridCol w="1651550">
                  <a:extLst>
                    <a:ext uri="{9D8B030D-6E8A-4147-A177-3AD203B41FA5}">
                      <a16:colId xmlns:a16="http://schemas.microsoft.com/office/drawing/2014/main" val="20001"/>
                    </a:ext>
                  </a:extLst>
                </a:gridCol>
                <a:gridCol w="5505600">
                  <a:extLst>
                    <a:ext uri="{9D8B030D-6E8A-4147-A177-3AD203B41FA5}">
                      <a16:colId xmlns:a16="http://schemas.microsoft.com/office/drawing/2014/main" val="20002"/>
                    </a:ext>
                  </a:extLst>
                </a:gridCol>
              </a:tblGrid>
              <a:tr h="409575">
                <a:tc>
                  <a:txBody>
                    <a:bodyPr/>
                    <a:lstStyle/>
                    <a:p>
                      <a:pPr marL="0" marR="0" lvl="0" indent="0" algn="l" rtl="0">
                        <a:spcBef>
                          <a:spcPts val="0"/>
                        </a:spcBef>
                        <a:spcAft>
                          <a:spcPts val="0"/>
                        </a:spcAft>
                        <a:buNone/>
                      </a:pPr>
                      <a:r>
                        <a:rPr lang="en-US" sz="1050" b="0" i="0" u="none" strike="noStrike" cap="none">
                          <a:solidFill>
                            <a:srgbClr val="FFFFFF"/>
                          </a:solidFill>
                          <a:latin typeface="Plus Jakarta Sans SemiBold"/>
                          <a:ea typeface="Plus Jakarta Sans SemiBold"/>
                          <a:cs typeface="Plus Jakarta Sans SemiBold"/>
                          <a:sym typeface="Plus Jakarta Sans SemiBold"/>
                        </a:rPr>
                        <a:t>Risk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r>
                        <a:rPr lang="en-US" sz="1050" b="0" i="0" u="none" strike="noStrike" cap="none">
                          <a:solidFill>
                            <a:srgbClr val="FFFFFF"/>
                          </a:solidFill>
                          <a:latin typeface="Plus Jakarta Sans SemiBold"/>
                          <a:ea typeface="Plus Jakarta Sans SemiBold"/>
                          <a:cs typeface="Plus Jakarta Sans SemiBold"/>
                          <a:sym typeface="Plus Jakarta Sans SemiBold"/>
                        </a:rPr>
                        <a:t>Mitigation Plan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extLst>
                  <a:ext uri="{0D108BD9-81ED-4DB2-BD59-A6C34878D82A}">
                    <a16:rowId xmlns:a16="http://schemas.microsoft.com/office/drawing/2014/main" val="10000"/>
                  </a:ext>
                </a:extLst>
              </a:tr>
              <a:tr h="409575">
                <a:tc>
                  <a:txBody>
                    <a:bodyPr/>
                    <a:lstStyle/>
                    <a:p>
                      <a:pPr marL="0" marR="0" lvl="0" indent="0" algn="l" rtl="0">
                        <a:spcBef>
                          <a:spcPts val="0"/>
                        </a:spcBef>
                        <a:spcAft>
                          <a:spcPts val="0"/>
                        </a:spcAft>
                        <a:buNone/>
                      </a:pPr>
                      <a:r>
                        <a:rPr lang="en-US" sz="1050" b="0" i="0" u="none" strike="noStrike" cap="none">
                          <a:solidFill>
                            <a:srgbClr val="D1D5DB"/>
                          </a:solidFill>
                          <a:latin typeface="Plus Jakarta Sans"/>
                          <a:ea typeface="Plus Jakarta Sans"/>
                          <a:cs typeface="Plus Jakarta Sans"/>
                          <a:sym typeface="Plus Jakarta Sans"/>
                        </a:rPr>
                        <a:t>Hardening breaks live WordPress service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r>
                        <a:rPr lang="en-US" sz="1050" b="0" i="0" u="none" strike="noStrike" cap="none">
                          <a:solidFill>
                            <a:srgbClr val="D1D5DB"/>
                          </a:solidFill>
                          <a:latin typeface="Plus Jakarta Sans"/>
                          <a:ea typeface="Plus Jakarta Sans"/>
                          <a:cs typeface="Plus Jakarta Sans"/>
                          <a:sym typeface="Plus Jakarta Sans"/>
                        </a:rPr>
                        <a:t>Test security rules extensively in DEV environments for 1 week before PROD.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extLst>
                  <a:ext uri="{0D108BD9-81ED-4DB2-BD59-A6C34878D82A}">
                    <a16:rowId xmlns:a16="http://schemas.microsoft.com/office/drawing/2014/main" val="10001"/>
                  </a:ext>
                </a:extLst>
              </a:tr>
              <a:tr h="409575">
                <a:tc>
                  <a:txBody>
                    <a:bodyPr/>
                    <a:lstStyle/>
                    <a:p>
                      <a:pPr marL="0" marR="0" lvl="0" indent="0" algn="l" rtl="0">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IAM calculations are too complex</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Utilize IAM Access Analyzer parsed findings as direct graph model inputs.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extLst>
                  <a:ext uri="{0D108BD9-81ED-4DB2-BD59-A6C34878D82A}">
                    <a16:rowId xmlns:a16="http://schemas.microsoft.com/office/drawing/2014/main" val="10002"/>
                  </a:ext>
                </a:extLst>
              </a:tr>
            </a:tbl>
          </a:graphicData>
        </a:graphic>
      </p:graphicFrame>
      <p:sp>
        <p:nvSpPr>
          <p:cNvPr id="248" name="Google Shape;248;p23"/>
          <p:cNvSpPr txBox="1"/>
          <p:nvPr/>
        </p:nvSpPr>
        <p:spPr>
          <a:xfrm>
            <a:off x="498302" y="2670720"/>
            <a:ext cx="347434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Model &amp; Scanner</a:t>
            </a:r>
            <a:endParaRPr/>
          </a:p>
        </p:txBody>
      </p:sp>
      <p:sp>
        <p:nvSpPr>
          <p:cNvPr id="249" name="Google Shape;249;p23"/>
          <p:cNvSpPr txBox="1"/>
          <p:nvPr/>
        </p:nvSpPr>
        <p:spPr>
          <a:xfrm>
            <a:off x="567512" y="3080295"/>
            <a:ext cx="3308895" cy="1714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900" b="0" i="0" u="none" strike="noStrike" cap="none" dirty="0">
                <a:solidFill>
                  <a:srgbClr val="06B6D4"/>
                </a:solidFill>
                <a:latin typeface="Plus Jakarta Sans"/>
                <a:ea typeface="Plus Jakarta Sans"/>
                <a:cs typeface="Plus Jakarta Sans"/>
                <a:sym typeface="Plus Jakarta Sans"/>
              </a:rPr>
              <a:t>Weeks 1-5</a:t>
            </a:r>
            <a:endParaRPr dirty="0"/>
          </a:p>
        </p:txBody>
      </p:sp>
      <p:sp>
        <p:nvSpPr>
          <p:cNvPr id="250" name="Google Shape;250;p23"/>
          <p:cNvSpPr/>
          <p:nvPr/>
        </p:nvSpPr>
        <p:spPr>
          <a:xfrm>
            <a:off x="2159272" y="2882181"/>
            <a:ext cx="152400" cy="152400"/>
          </a:xfrm>
          <a:prstGeom prst="roundRect">
            <a:avLst>
              <a:gd name="adj" fmla="val 50000"/>
            </a:avLst>
          </a:prstGeom>
          <a:solidFill>
            <a:srgbClr val="06B6D4"/>
          </a:solidFill>
          <a:ln w="28575" cap="flat" cmpd="sng">
            <a:solidFill>
              <a:srgbClr val="0B0F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1" name="Google Shape;251;p23"/>
          <p:cNvSpPr txBox="1"/>
          <p:nvPr/>
        </p:nvSpPr>
        <p:spPr>
          <a:xfrm>
            <a:off x="4358755" y="2670720"/>
            <a:ext cx="347434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FFFFFF"/>
                </a:solidFill>
                <a:latin typeface="Plus Jakarta Sans"/>
                <a:ea typeface="Plus Jakarta Sans"/>
                <a:cs typeface="Plus Jakarta Sans"/>
                <a:sym typeface="Plus Jakarta Sans"/>
              </a:rPr>
              <a:t>Hardening Trials</a:t>
            </a:r>
            <a:endParaRPr dirty="0"/>
          </a:p>
        </p:txBody>
      </p:sp>
      <p:sp>
        <p:nvSpPr>
          <p:cNvPr id="252" name="Google Shape;252;p23"/>
          <p:cNvSpPr txBox="1"/>
          <p:nvPr/>
        </p:nvSpPr>
        <p:spPr>
          <a:xfrm>
            <a:off x="4441402" y="3078288"/>
            <a:ext cx="3308895" cy="1714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900" b="0" i="0" u="none" strike="noStrike" cap="none" dirty="0">
                <a:solidFill>
                  <a:srgbClr val="10B981"/>
                </a:solidFill>
                <a:latin typeface="Plus Jakarta Sans"/>
                <a:ea typeface="Plus Jakarta Sans"/>
                <a:cs typeface="Plus Jakarta Sans"/>
                <a:sym typeface="Plus Jakarta Sans"/>
              </a:rPr>
              <a:t>Weeks 6-9</a:t>
            </a:r>
            <a:endParaRPr dirty="0"/>
          </a:p>
        </p:txBody>
      </p:sp>
      <p:sp>
        <p:nvSpPr>
          <p:cNvPr id="253" name="Google Shape;253;p23"/>
          <p:cNvSpPr/>
          <p:nvPr/>
        </p:nvSpPr>
        <p:spPr>
          <a:xfrm>
            <a:off x="6012969" y="2897778"/>
            <a:ext cx="152400" cy="152400"/>
          </a:xfrm>
          <a:prstGeom prst="roundRect">
            <a:avLst>
              <a:gd name="adj" fmla="val 50000"/>
            </a:avLst>
          </a:prstGeom>
          <a:solidFill>
            <a:srgbClr val="10B981"/>
          </a:solidFill>
          <a:ln w="28575" cap="flat" cmpd="sng">
            <a:solidFill>
              <a:srgbClr val="0B0F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3"/>
          <p:cNvSpPr txBox="1"/>
          <p:nvPr/>
        </p:nvSpPr>
        <p:spPr>
          <a:xfrm>
            <a:off x="8219208" y="2670720"/>
            <a:ext cx="347434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Thesis Composition</a:t>
            </a:r>
            <a:endParaRPr/>
          </a:p>
        </p:txBody>
      </p:sp>
      <p:sp>
        <p:nvSpPr>
          <p:cNvPr id="255" name="Google Shape;255;p23"/>
          <p:cNvSpPr txBox="1"/>
          <p:nvPr/>
        </p:nvSpPr>
        <p:spPr>
          <a:xfrm>
            <a:off x="8292554" y="3078288"/>
            <a:ext cx="3308895" cy="1714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900" b="0" i="0" u="none" strike="noStrike" cap="none" dirty="0">
                <a:solidFill>
                  <a:srgbClr val="06B6D4"/>
                </a:solidFill>
                <a:latin typeface="Plus Jakarta Sans"/>
                <a:ea typeface="Plus Jakarta Sans"/>
                <a:cs typeface="Plus Jakarta Sans"/>
                <a:sym typeface="Plus Jakarta Sans"/>
              </a:rPr>
              <a:t>Weeks 10-12</a:t>
            </a:r>
            <a:endParaRPr dirty="0"/>
          </a:p>
        </p:txBody>
      </p:sp>
      <p:sp>
        <p:nvSpPr>
          <p:cNvPr id="256" name="Google Shape;256;p23"/>
          <p:cNvSpPr/>
          <p:nvPr/>
        </p:nvSpPr>
        <p:spPr>
          <a:xfrm>
            <a:off x="9866666" y="2884015"/>
            <a:ext cx="152400" cy="152400"/>
          </a:xfrm>
          <a:prstGeom prst="roundRect">
            <a:avLst>
              <a:gd name="adj" fmla="val 50000"/>
            </a:avLst>
          </a:prstGeom>
          <a:solidFill>
            <a:srgbClr val="06B6D4"/>
          </a:solidFill>
          <a:ln w="28575" cap="flat" cmpd="sng">
            <a:solidFill>
              <a:srgbClr val="0B0F1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23"/>
          <p:cNvSpPr/>
          <p:nvPr/>
        </p:nvSpPr>
        <p:spPr>
          <a:xfrm>
            <a:off x="590550" y="4147095"/>
            <a:ext cx="3853755" cy="19050"/>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3"/>
          <p:cNvSpPr/>
          <p:nvPr/>
        </p:nvSpPr>
        <p:spPr>
          <a:xfrm>
            <a:off x="4444305" y="4147095"/>
            <a:ext cx="1651545" cy="19050"/>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9" name="Google Shape;259;p23"/>
          <p:cNvSpPr/>
          <p:nvPr/>
        </p:nvSpPr>
        <p:spPr>
          <a:xfrm>
            <a:off x="6095851" y="4147095"/>
            <a:ext cx="5505598" cy="19050"/>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590550" y="4570958"/>
            <a:ext cx="3853755"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4444305" y="4570958"/>
            <a:ext cx="1651545"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3"/>
          <p:cNvSpPr/>
          <p:nvPr/>
        </p:nvSpPr>
        <p:spPr>
          <a:xfrm>
            <a:off x="6095851" y="4570958"/>
            <a:ext cx="5505598"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3" name="Google Shape;263;p23"/>
          <p:cNvSpPr txBox="1"/>
          <p:nvPr/>
        </p:nvSpPr>
        <p:spPr>
          <a:xfrm>
            <a:off x="723900" y="485775"/>
            <a:ext cx="11431428" cy="4708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dirty="0">
                <a:solidFill>
                  <a:srgbClr val="FFFFFF"/>
                </a:solidFill>
                <a:latin typeface="Plus Jakarta Sans"/>
                <a:ea typeface="Plus Jakarta Sans"/>
                <a:cs typeface="Plus Jakarta Sans"/>
                <a:sym typeface="Plus Jakarta Sans"/>
              </a:rPr>
              <a:t>Timeline &amp; Plan</a:t>
            </a:r>
            <a:endParaRPr dirty="0"/>
          </a:p>
        </p:txBody>
      </p:sp>
      <p:sp>
        <p:nvSpPr>
          <p:cNvPr id="264" name="Google Shape;264;p23"/>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8"/>
        <p:cNvGrpSpPr/>
        <p:nvPr/>
      </p:nvGrpSpPr>
      <p:grpSpPr>
        <a:xfrm>
          <a:off x="0" y="0"/>
          <a:ext cx="0" cy="0"/>
          <a:chOff x="0" y="0"/>
          <a:chExt cx="0" cy="0"/>
        </a:xfrm>
      </p:grpSpPr>
      <p:pic>
        <p:nvPicPr>
          <p:cNvPr id="269" name="Google Shape;269;p24" descr="image.png"/>
          <p:cNvPicPr preferRelativeResize="0"/>
          <p:nvPr/>
        </p:nvPicPr>
        <p:blipFill rotWithShape="1">
          <a:blip r:embed="rId3">
            <a:alphaModFix/>
          </a:blip>
          <a:srcRect/>
          <a:stretch/>
        </p:blipFill>
        <p:spPr>
          <a:xfrm>
            <a:off x="581025" y="2565945"/>
            <a:ext cx="5324475" cy="2343150"/>
          </a:xfrm>
          <a:prstGeom prst="rect">
            <a:avLst/>
          </a:prstGeom>
          <a:noFill/>
          <a:ln>
            <a:noFill/>
          </a:ln>
        </p:spPr>
      </p:pic>
      <p:pic>
        <p:nvPicPr>
          <p:cNvPr id="270" name="Google Shape;270;p24" descr="image.png"/>
          <p:cNvPicPr preferRelativeResize="0"/>
          <p:nvPr/>
        </p:nvPicPr>
        <p:blipFill rotWithShape="1">
          <a:blip r:embed="rId4">
            <a:alphaModFix/>
          </a:blip>
          <a:srcRect/>
          <a:stretch/>
        </p:blipFill>
        <p:spPr>
          <a:xfrm>
            <a:off x="6286500" y="2565945"/>
            <a:ext cx="5324475" cy="2343150"/>
          </a:xfrm>
          <a:prstGeom prst="rect">
            <a:avLst/>
          </a:prstGeom>
          <a:noFill/>
          <a:ln>
            <a:noFill/>
          </a:ln>
        </p:spPr>
      </p:pic>
      <p:graphicFrame>
        <p:nvGraphicFramePr>
          <p:cNvPr id="271" name="Google Shape;271;p24"/>
          <p:cNvGraphicFramePr/>
          <p:nvPr/>
        </p:nvGraphicFramePr>
        <p:xfrm>
          <a:off x="590550" y="2575470"/>
          <a:ext cx="5305425" cy="2324100"/>
        </p:xfrm>
        <a:graphic>
          <a:graphicData uri="http://schemas.openxmlformats.org/drawingml/2006/table">
            <a:tbl>
              <a:tblPr firstRow="1" bandRow="1">
                <a:noFill/>
                <a:tableStyleId>{A66B5C6D-F056-4A6B-934D-435CDD8ED7CD}</a:tableStyleId>
              </a:tblPr>
              <a:tblGrid>
                <a:gridCol w="1591575">
                  <a:extLst>
                    <a:ext uri="{9D8B030D-6E8A-4147-A177-3AD203B41FA5}">
                      <a16:colId xmlns:a16="http://schemas.microsoft.com/office/drawing/2014/main" val="20000"/>
                    </a:ext>
                  </a:extLst>
                </a:gridCol>
                <a:gridCol w="3713850">
                  <a:extLst>
                    <a:ext uri="{9D8B030D-6E8A-4147-A177-3AD203B41FA5}">
                      <a16:colId xmlns:a16="http://schemas.microsoft.com/office/drawing/2014/main" val="20001"/>
                    </a:ext>
                  </a:extLst>
                </a:gridCol>
              </a:tblGrid>
              <a:tr h="581025">
                <a:tc>
                  <a:txBody>
                    <a:bodyPr/>
                    <a:lstStyle/>
                    <a:p>
                      <a:pPr marL="0" marR="0" lvl="0" indent="0" algn="l" rtl="0">
                        <a:spcBef>
                          <a:spcPts val="0"/>
                        </a:spcBef>
                        <a:spcAft>
                          <a:spcPts val="0"/>
                        </a:spcAft>
                        <a:buNone/>
                      </a:pPr>
                      <a:r>
                        <a:rPr lang="en-US" sz="1050" b="0" i="0" u="none" strike="noStrike" cap="none">
                          <a:solidFill>
                            <a:srgbClr val="FFFFFF"/>
                          </a:solidFill>
                          <a:latin typeface="Plus Jakarta Sans SemiBold"/>
                          <a:ea typeface="Plus Jakarta Sans SemiBold"/>
                          <a:cs typeface="Plus Jakarta Sans SemiBold"/>
                          <a:sym typeface="Plus Jakarta Sans SemiBold"/>
                        </a:rPr>
                        <a:t>Reference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tc>
                  <a:txBody>
                    <a:bodyPr/>
                    <a:lstStyle/>
                    <a:p>
                      <a:pPr marL="0" marR="0" lvl="0" indent="0" algn="l" rtl="0">
                        <a:spcBef>
                          <a:spcPts val="0"/>
                        </a:spcBef>
                        <a:spcAft>
                          <a:spcPts val="0"/>
                        </a:spcAft>
                        <a:buNone/>
                      </a:pPr>
                      <a:r>
                        <a:rPr lang="en-US" sz="1050" b="0" i="0" u="none" strike="noStrike" cap="none">
                          <a:solidFill>
                            <a:srgbClr val="FFFFFF"/>
                          </a:solidFill>
                          <a:latin typeface="Plus Jakarta Sans SemiBold"/>
                          <a:ea typeface="Plus Jakarta Sans SemiBold"/>
                          <a:cs typeface="Plus Jakarta Sans SemiBold"/>
                          <a:sym typeface="Plus Jakarta Sans SemiBold"/>
                        </a:rPr>
                        <a:t>Academic Link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1827"/>
                    </a:solidFill>
                  </a:tcPr>
                </a:tc>
                <a:extLst>
                  <a:ext uri="{0D108BD9-81ED-4DB2-BD59-A6C34878D82A}">
                    <a16:rowId xmlns:a16="http://schemas.microsoft.com/office/drawing/2014/main" val="10000"/>
                  </a:ext>
                </a:extLst>
              </a:tr>
              <a:tr h="581025">
                <a:tc>
                  <a:txBody>
                    <a:bodyPr/>
                    <a:lstStyle/>
                    <a:p>
                      <a:pPr marL="0" marR="0" lvl="0" indent="0" algn="l" rtl="0">
                        <a:spcBef>
                          <a:spcPts val="0"/>
                        </a:spcBef>
                        <a:spcAft>
                          <a:spcPts val="0"/>
                        </a:spcAft>
                        <a:buNone/>
                      </a:pPr>
                      <a:r>
                        <a:rPr lang="en-US" sz="1050" b="1" i="0" u="none" strike="noStrike" cap="none">
                          <a:solidFill>
                            <a:srgbClr val="D1D5DB"/>
                          </a:solidFill>
                          <a:latin typeface="Plus Jakarta Sans"/>
                          <a:ea typeface="Plus Jakarta Sans"/>
                          <a:cs typeface="Plus Jakarta Sans"/>
                          <a:sym typeface="Plus Jakarta Sans"/>
                        </a:rPr>
                        <a:t>Stournaras (2023)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r>
                        <a:rPr lang="en-US" sz="1050" b="0" i="0" u="none" strike="noStrike" cap="none">
                          <a:solidFill>
                            <a:srgbClr val="D1D5DB"/>
                          </a:solidFill>
                          <a:latin typeface="Plus Jakarta Sans"/>
                          <a:ea typeface="Plus Jakarta Sans"/>
                          <a:cs typeface="Plus Jakarta Sans"/>
                          <a:sym typeface="Plus Jakarta Sans"/>
                        </a:rPr>
                        <a:t>"HackerGraph: Creating a Knowledge Graph for Security Assessment of AWS Systems." KTH Royal Institute of Technology.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extLst>
                  <a:ext uri="{0D108BD9-81ED-4DB2-BD59-A6C34878D82A}">
                    <a16:rowId xmlns:a16="http://schemas.microsoft.com/office/drawing/2014/main" val="10001"/>
                  </a:ext>
                </a:extLst>
              </a:tr>
              <a:tr h="581025">
                <a:tc>
                  <a:txBody>
                    <a:bodyPr/>
                    <a:lstStyle/>
                    <a:p>
                      <a:pPr marL="0" marR="0" lvl="0" indent="0" algn="l" rtl="0">
                        <a:spcBef>
                          <a:spcPts val="0"/>
                        </a:spcBef>
                        <a:spcAft>
                          <a:spcPts val="0"/>
                        </a:spcAft>
                        <a:buNone/>
                      </a:pPr>
                      <a:r>
                        <a:rPr lang="en-US" sz="1050" b="1" i="0" u="none" strike="noStrike" cap="none">
                          <a:solidFill>
                            <a:srgbClr val="D1D5DB"/>
                          </a:solidFill>
                          <a:latin typeface="Plus Jakarta Sans"/>
                          <a:ea typeface="Plus Jakarta Sans"/>
                          <a:cs typeface="Plus Jakarta Sans"/>
                          <a:sym typeface="Plus Jakarta Sans"/>
                        </a:rPr>
                        <a:t>Ibrahim et al. (2019)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r>
                        <a:rPr lang="en-US" sz="1050" b="0" i="0" u="none" strike="noStrike" cap="none">
                          <a:solidFill>
                            <a:srgbClr val="D1D5DB"/>
                          </a:solidFill>
                          <a:latin typeface="Plus Jakarta Sans"/>
                          <a:ea typeface="Plus Jakarta Sans"/>
                          <a:cs typeface="Plus Jakarta Sans"/>
                          <a:sym typeface="Plus Jakarta Sans"/>
                        </a:rPr>
                        <a:t>"Attack Graph Generation for Microservice Architecture" (TU Munich, ACM SAC).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extLst>
                  <a:ext uri="{0D108BD9-81ED-4DB2-BD59-A6C34878D82A}">
                    <a16:rowId xmlns:a16="http://schemas.microsoft.com/office/drawing/2014/main" val="10002"/>
                  </a:ext>
                </a:extLst>
              </a:tr>
              <a:tr h="581025">
                <a:tc>
                  <a:txBody>
                    <a:bodyPr/>
                    <a:lstStyle/>
                    <a:p>
                      <a:pPr marL="0" marR="0" lvl="0" indent="0" algn="l" rtl="0">
                        <a:spcBef>
                          <a:spcPts val="0"/>
                        </a:spcBef>
                        <a:spcAft>
                          <a:spcPts val="0"/>
                        </a:spcAft>
                        <a:buNone/>
                      </a:pPr>
                      <a:r>
                        <a:rPr lang="en-US" sz="1050" b="1" i="0" u="none" strike="noStrike" cap="none">
                          <a:solidFill>
                            <a:srgbClr val="D1D5DB"/>
                          </a:solidFill>
                          <a:latin typeface="Plus Jakarta Sans"/>
                          <a:ea typeface="Plus Jakarta Sans"/>
                          <a:cs typeface="Plus Jakarta Sans"/>
                          <a:sym typeface="Plus Jakarta Sans"/>
                        </a:rPr>
                        <a:t>Capobianco (2019)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tc>
                  <a:txBody>
                    <a:bodyPr/>
                    <a:lstStyle/>
                    <a:p>
                      <a:pPr marL="0" marR="0" lvl="0" indent="0" algn="l" rtl="0">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"Employing Attack Graphs for Intrusion Detection" (Penn State, NSPW).</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D1321"/>
                    </a:solidFill>
                  </a:tcPr>
                </a:tc>
                <a:extLst>
                  <a:ext uri="{0D108BD9-81ED-4DB2-BD59-A6C34878D82A}">
                    <a16:rowId xmlns:a16="http://schemas.microsoft.com/office/drawing/2014/main" val="10003"/>
                  </a:ext>
                </a:extLst>
              </a:tr>
            </a:tbl>
          </a:graphicData>
        </a:graphic>
      </p:graphicFrame>
      <p:sp>
        <p:nvSpPr>
          <p:cNvPr id="272" name="Google Shape;272;p24"/>
          <p:cNvSpPr txBox="1"/>
          <p:nvPr/>
        </p:nvSpPr>
        <p:spPr>
          <a:xfrm>
            <a:off x="6772275" y="2804070"/>
            <a:ext cx="4830603" cy="23812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06B6D4"/>
                </a:solidFill>
                <a:latin typeface="Plus Jakarta Sans"/>
                <a:ea typeface="Plus Jakarta Sans"/>
                <a:cs typeface="Plus Jakarta Sans"/>
                <a:sym typeface="Plus Jakarta Sans"/>
              </a:rPr>
              <a:t>Conclusion</a:t>
            </a:r>
            <a:endParaRPr/>
          </a:p>
        </p:txBody>
      </p:sp>
      <p:sp>
        <p:nvSpPr>
          <p:cNvPr id="273" name="Google Shape;273;p24"/>
          <p:cNvSpPr txBox="1"/>
          <p:nvPr/>
        </p:nvSpPr>
        <p:spPr>
          <a:xfrm>
            <a:off x="6524625" y="3289845"/>
            <a:ext cx="4848225" cy="800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dirty="0">
                <a:solidFill>
                  <a:srgbClr val="D1D5DB"/>
                </a:solidFill>
                <a:latin typeface="Plus Jakarta Sans"/>
                <a:ea typeface="Plus Jakarta Sans"/>
                <a:cs typeface="Plus Jakarta Sans"/>
                <a:sym typeface="Plus Jakarta Sans"/>
              </a:rPr>
              <a:t>This research provides a practical, automated model to quantify cloud security posture dynamically. By bridging formal graph representations with live AWS API capabilities, it enables security teams to make highly optimized risk-reduction decisions.</a:t>
            </a:r>
            <a:endParaRPr dirty="0"/>
          </a:p>
        </p:txBody>
      </p:sp>
      <p:sp>
        <p:nvSpPr>
          <p:cNvPr id="274" name="Google Shape;274;p24"/>
          <p:cNvSpPr/>
          <p:nvPr/>
        </p:nvSpPr>
        <p:spPr>
          <a:xfrm>
            <a:off x="590550" y="2965995"/>
            <a:ext cx="1591567" cy="19050"/>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4"/>
          <p:cNvSpPr/>
          <p:nvPr/>
        </p:nvSpPr>
        <p:spPr>
          <a:xfrm>
            <a:off x="2182117" y="2965995"/>
            <a:ext cx="3713857" cy="19050"/>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6" name="Google Shape;276;p24" descr="image.png"/>
          <p:cNvPicPr preferRelativeResize="0"/>
          <p:nvPr/>
        </p:nvPicPr>
        <p:blipFill rotWithShape="1">
          <a:blip r:embed="rId5">
            <a:alphaModFix/>
          </a:blip>
          <a:srcRect/>
          <a:stretch/>
        </p:blipFill>
        <p:spPr>
          <a:xfrm>
            <a:off x="6524625" y="2837408"/>
            <a:ext cx="152400" cy="171450"/>
          </a:xfrm>
          <a:prstGeom prst="rect">
            <a:avLst/>
          </a:prstGeom>
          <a:noFill/>
          <a:ln>
            <a:noFill/>
          </a:ln>
        </p:spPr>
      </p:pic>
      <p:sp>
        <p:nvSpPr>
          <p:cNvPr id="277" name="Google Shape;277;p24"/>
          <p:cNvSpPr/>
          <p:nvPr/>
        </p:nvSpPr>
        <p:spPr>
          <a:xfrm>
            <a:off x="590550" y="3732758"/>
            <a:ext cx="1591567"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4"/>
          <p:cNvSpPr/>
          <p:nvPr/>
        </p:nvSpPr>
        <p:spPr>
          <a:xfrm>
            <a:off x="2182117" y="3732758"/>
            <a:ext cx="3713857"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4"/>
          <p:cNvSpPr/>
          <p:nvPr/>
        </p:nvSpPr>
        <p:spPr>
          <a:xfrm>
            <a:off x="590550" y="4313783"/>
            <a:ext cx="1591567"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4"/>
          <p:cNvSpPr/>
          <p:nvPr/>
        </p:nvSpPr>
        <p:spPr>
          <a:xfrm>
            <a:off x="2182117" y="4313783"/>
            <a:ext cx="3713857" cy="9525"/>
          </a:xfrm>
          <a:prstGeom prst="rect">
            <a:avLst/>
          </a:prstGeom>
          <a:solidFill>
            <a:srgbClr val="1F2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4"/>
          <p:cNvSpPr txBox="1"/>
          <p:nvPr/>
        </p:nvSpPr>
        <p:spPr>
          <a:xfrm>
            <a:off x="723900" y="485775"/>
            <a:ext cx="11431428" cy="38859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550" b="1" i="0" u="none" strike="noStrike" cap="none">
                <a:solidFill>
                  <a:srgbClr val="FFFFFF"/>
                </a:solidFill>
                <a:latin typeface="Plus Jakarta Sans"/>
                <a:ea typeface="Plus Jakarta Sans"/>
                <a:cs typeface="Plus Jakarta Sans"/>
                <a:sym typeface="Plus Jakarta Sans"/>
              </a:rPr>
              <a:t>References &amp; Conclusion</a:t>
            </a:r>
            <a:endParaRPr/>
          </a:p>
        </p:txBody>
      </p:sp>
      <p:sp>
        <p:nvSpPr>
          <p:cNvPr id="282" name="Google Shape;282;p24"/>
          <p:cNvSpPr/>
          <p:nvPr/>
        </p:nvSpPr>
        <p:spPr>
          <a:xfrm>
            <a:off x="581025" y="485775"/>
            <a:ext cx="47625" cy="38859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1761</Words>
  <Application>Microsoft Macintosh PowerPoint</Application>
  <PresentationFormat>Widescreen</PresentationFormat>
  <Paragraphs>134</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Arial</vt:lpstr>
      <vt:lpstr>Plus Jakarta Sans SemiBold</vt:lpstr>
      <vt:lpstr>Roboto</vt:lpstr>
      <vt:lpstr>Plus Jakarta Sans</vt:lpstr>
      <vt:lpstr>Roboto Slab</vt:lpstr>
      <vt:lpstr>Marina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Shadman, Soumik</cp:lastModifiedBy>
  <cp:revision>29</cp:revision>
  <dcterms:modified xsi:type="dcterms:W3CDTF">2026-06-29T10:19:31Z</dcterms:modified>
</cp:coreProperties>
</file>